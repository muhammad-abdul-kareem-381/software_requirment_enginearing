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5" r:id="rId2"/>
    <p:sldId id="256" r:id="rId3"/>
    <p:sldId id="257" r:id="rId4"/>
    <p:sldId id="258" r:id="rId5"/>
    <p:sldId id="259" r:id="rId6"/>
    <p:sldId id="260" r:id="rId7"/>
    <p:sldId id="261" r:id="rId8"/>
    <p:sldId id="262" r:id="rId9"/>
    <p:sldId id="263" r:id="rId10"/>
    <p:sldId id="264" r:id="rId11"/>
  </p:sldIdLst>
  <p:sldSz cx="14630400" cy="8229600"/>
  <p:notesSz cx="8229600" cy="14630400"/>
  <p:embeddedFontLst>
    <p:embeddedFont>
      <p:font typeface="Barlow" panose="00000500000000000000" pitchFamily="2" charset="0"/>
      <p:regular r:id="rId13"/>
      <p:bold r:id="rId14"/>
      <p:italic r:id="rId15"/>
      <p:bold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16AAA6B-716B-EB89-9D1F-6E207232B525}" name="muther saeed" initials="ms" userId="S::mahammad@y22mv.onmicrosoft.com::d2e2b6ee-5c7f-4189-8832-5b7dac0d4c4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9" d="100"/>
          <a:sy n="4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ther saeed" userId="750608fc525d3c47" providerId="LiveId" clId="{0B99278E-55F7-4B07-BB07-E5D51E8F231C}"/>
    <pc:docChg chg="modSld sldOrd">
      <pc:chgData name="muther saeed" userId="750608fc525d3c47" providerId="LiveId" clId="{0B99278E-55F7-4B07-BB07-E5D51E8F231C}" dt="2024-12-16T05:40:46.582" v="1"/>
      <pc:docMkLst>
        <pc:docMk/>
      </pc:docMkLst>
      <pc:sldChg chg="ord">
        <pc:chgData name="muther saeed" userId="750608fc525d3c47" providerId="LiveId" clId="{0B99278E-55F7-4B07-BB07-E5D51E8F231C}" dt="2024-12-16T05:40:46.582" v="1"/>
        <pc:sldMkLst>
          <pc:docMk/>
          <pc:sldMk cId="889482306" sldId="265"/>
        </pc:sldMkLst>
      </pc:sldChg>
    </pc:docChg>
  </pc:docChgLst>
  <pc:docChgLst>
    <pc:chgData name="muther saeed" userId="750608fc525d3c47" providerId="Windows Live" clId="Web-{B7EBE969-74E9-4E51-88DB-CCF44DF0E05B}"/>
    <pc:docChg chg="modSld">
      <pc:chgData name="muther saeed" userId="750608fc525d3c47" providerId="Windows Live" clId="Web-{B7EBE969-74E9-4E51-88DB-CCF44DF0E05B}" dt="2024-12-08T08:53:54.285" v="10" actId="20577"/>
      <pc:docMkLst>
        <pc:docMk/>
      </pc:docMkLst>
      <pc:sldChg chg="modSp">
        <pc:chgData name="muther saeed" userId="750608fc525d3c47" providerId="Windows Live" clId="Web-{B7EBE969-74E9-4E51-88DB-CCF44DF0E05B}" dt="2024-12-08T08:49:41.061" v="4" actId="20577"/>
        <pc:sldMkLst>
          <pc:docMk/>
          <pc:sldMk cId="0" sldId="257"/>
        </pc:sldMkLst>
        <pc:spChg chg="mod">
          <ac:chgData name="muther saeed" userId="750608fc525d3c47" providerId="Windows Live" clId="Web-{B7EBE969-74E9-4E51-88DB-CCF44DF0E05B}" dt="2024-12-08T08:49:41.061" v="4" actId="20577"/>
          <ac:spMkLst>
            <pc:docMk/>
            <pc:sldMk cId="0" sldId="257"/>
            <ac:spMk id="6" creationId="{00000000-0000-0000-0000-000000000000}"/>
          </ac:spMkLst>
        </pc:spChg>
      </pc:sldChg>
      <pc:sldChg chg="modSp">
        <pc:chgData name="muther saeed" userId="750608fc525d3c47" providerId="Windows Live" clId="Web-{B7EBE969-74E9-4E51-88DB-CCF44DF0E05B}" dt="2024-12-08T08:53:54.285" v="10" actId="20577"/>
        <pc:sldMkLst>
          <pc:docMk/>
          <pc:sldMk cId="0" sldId="258"/>
        </pc:sldMkLst>
        <pc:spChg chg="mod">
          <ac:chgData name="muther saeed" userId="750608fc525d3c47" providerId="Windows Live" clId="Web-{B7EBE969-74E9-4E51-88DB-CCF44DF0E05B}" dt="2024-12-08T08:52:27.611" v="6" actId="20577"/>
          <ac:spMkLst>
            <pc:docMk/>
            <pc:sldMk cId="0" sldId="258"/>
            <ac:spMk id="8" creationId="{00000000-0000-0000-0000-000000000000}"/>
          </ac:spMkLst>
        </pc:spChg>
        <pc:spChg chg="mod">
          <ac:chgData name="muther saeed" userId="750608fc525d3c47" providerId="Windows Live" clId="Web-{B7EBE969-74E9-4E51-88DB-CCF44DF0E05B}" dt="2024-12-08T08:52:49.236" v="7" actId="20577"/>
          <ac:spMkLst>
            <pc:docMk/>
            <pc:sldMk cId="0" sldId="258"/>
            <ac:spMk id="12" creationId="{00000000-0000-0000-0000-000000000000}"/>
          </ac:spMkLst>
        </pc:spChg>
        <pc:spChg chg="mod">
          <ac:chgData name="muther saeed" userId="750608fc525d3c47" providerId="Windows Live" clId="Web-{B7EBE969-74E9-4E51-88DB-CCF44DF0E05B}" dt="2024-12-08T08:53:29.987" v="9" actId="20577"/>
          <ac:spMkLst>
            <pc:docMk/>
            <pc:sldMk cId="0" sldId="258"/>
            <ac:spMk id="16" creationId="{00000000-0000-0000-0000-000000000000}"/>
          </ac:spMkLst>
        </pc:spChg>
        <pc:spChg chg="mod">
          <ac:chgData name="muther saeed" userId="750608fc525d3c47" providerId="Windows Live" clId="Web-{B7EBE969-74E9-4E51-88DB-CCF44DF0E05B}" dt="2024-12-08T08:53:54.285" v="10" actId="20577"/>
          <ac:spMkLst>
            <pc:docMk/>
            <pc:sldMk cId="0" sldId="258"/>
            <ac:spMk id="2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4389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EF5E9-3424-6A07-1BBA-7A4079498A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DCE90-95D5-1C51-2A22-C63BEC073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D0392A-1EB0-C210-12AF-F8014711EB7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544A809-95CF-1FEC-819B-868151E44B99}"/>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244029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9935D-1E7B-3D07-BB0E-851620BF8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EACD3F-98A6-3A15-C8A6-5DA13FE3C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4AADC2-344D-61FF-AFF2-E2107735AE3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199A6A-4D2B-D31F-D5B5-EEEFE0BB64C7}"/>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263764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downloads.rmtrack.com/InstallationGuidev4.0.pdf"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hyperlink" Target="https://www.youtube.com/@rmtrack702" TargetMode="Externa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hyperlink" Target="https://www.rmtrack.com/" TargetMode="External"/><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17.jpeg"/><Relationship Id="rId5" Type="http://schemas.openxmlformats.org/officeDocument/2006/relationships/hyperlink" Target="https://downloads.rmtrack.com/InstallationGuidev4.0.pdf" TargetMode="External"/><Relationship Id="rId4" Type="http://schemas.openxmlformats.org/officeDocument/2006/relationships/hyperlink" Target="https://www.youtube.com/@rmtrack70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37F7B3-3866-E3FD-25D8-2D1720AC7A6D}"/>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0">
            <a:extLst>
              <a:ext uri="{FF2B5EF4-FFF2-40B4-BE49-F238E27FC236}">
                <a16:creationId xmlns:a16="http://schemas.microsoft.com/office/drawing/2014/main" id="{97883314-A09E-A9D7-55F4-3AB87D7DFABE}"/>
              </a:ext>
            </a:extLst>
          </p:cNvPr>
          <p:cNvSpPr/>
          <p:nvPr/>
        </p:nvSpPr>
        <p:spPr>
          <a:xfrm>
            <a:off x="7481838" y="682220"/>
            <a:ext cx="6297865" cy="1280651"/>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4400" b="1" i="1" u="sng">
                <a:solidFill>
                  <a:schemeClr val="bg1"/>
                </a:solidFill>
                <a:latin typeface="+mj-lt"/>
                <a:ea typeface="+mj-ea"/>
                <a:cs typeface="+mj-cs"/>
              </a:rPr>
              <a:t>Presented by:</a:t>
            </a:r>
            <a:endParaRPr lang="en-US" sz="4400" i="1" u="sng">
              <a:solidFill>
                <a:schemeClr val="bg1"/>
              </a:solidFill>
              <a:latin typeface="+mj-lt"/>
              <a:ea typeface="+mj-ea"/>
              <a:cs typeface="+mj-cs"/>
            </a:endParaRPr>
          </a:p>
        </p:txBody>
      </p:sp>
      <p:pic>
        <p:nvPicPr>
          <p:cNvPr id="2" name="Image 0" descr="A group of people looking at a whiteboard with sticky notes&#10;&#10;Description automatically generated">
            <a:extLst>
              <a:ext uri="{FF2B5EF4-FFF2-40B4-BE49-F238E27FC236}">
                <a16:creationId xmlns:a16="http://schemas.microsoft.com/office/drawing/2014/main" id="{3C4336AE-422A-A1B0-A545-E60A0F859B59}"/>
              </a:ext>
            </a:extLst>
          </p:cNvPr>
          <p:cNvPicPr>
            <a:picLocks noChangeAspect="1"/>
          </p:cNvPicPr>
          <p:nvPr/>
        </p:nvPicPr>
        <p:blipFill>
          <a:blip r:embed="rId3"/>
          <a:srcRect t="22250"/>
          <a:stretch/>
        </p:blipFill>
        <p:spPr>
          <a:xfrm>
            <a:off x="887950" y="1314488"/>
            <a:ext cx="5705937" cy="5705936"/>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ln w="28575">
            <a:noFill/>
          </a:ln>
        </p:spPr>
      </p:pic>
      <p:grpSp>
        <p:nvGrpSpPr>
          <p:cNvPr id="20" name="Group 19">
            <a:extLst>
              <a:ext uri="{FF2B5EF4-FFF2-40B4-BE49-F238E27FC236}">
                <a16:creationId xmlns:a16="http://schemas.microsoft.com/office/drawing/2014/main" id="{B894EFA8-F425-4D19-A94B-445388B31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3471"/>
            <a:ext cx="2234224" cy="861017"/>
            <a:chOff x="0" y="377893"/>
            <a:chExt cx="1861854" cy="717514"/>
          </a:xfrm>
          <a:solidFill>
            <a:schemeClr val="bg1"/>
          </a:solidFill>
        </p:grpSpPr>
        <p:sp>
          <p:nvSpPr>
            <p:cNvPr id="21" name="Freeform: Shape 20">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22" name="Freeform: Shape 21">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sp>
        <p:nvSpPr>
          <p:cNvPr id="4" name="Text 1">
            <a:extLst>
              <a:ext uri="{FF2B5EF4-FFF2-40B4-BE49-F238E27FC236}">
                <a16:creationId xmlns:a16="http://schemas.microsoft.com/office/drawing/2014/main" id="{E92A2172-C249-0A0A-3474-BEF811B84CB2}"/>
              </a:ext>
            </a:extLst>
          </p:cNvPr>
          <p:cNvSpPr/>
          <p:nvPr/>
        </p:nvSpPr>
        <p:spPr>
          <a:xfrm>
            <a:off x="7481841" y="2184442"/>
            <a:ext cx="6260608" cy="5221606"/>
          </a:xfrm>
          <a:prstGeom prst="rect">
            <a:avLst/>
          </a:prstGeom>
        </p:spPr>
        <p:txBody>
          <a:bodyPr vert="horz" lIns="91440" tIns="45720" rIns="91440" bIns="45720" rtlCol="0" anchor="ctr">
            <a:normAutofit/>
          </a:bodyPr>
          <a:lstStyle/>
          <a:p>
            <a:pPr marL="457200" indent="-228600" algn="ctr">
              <a:lnSpc>
                <a:spcPct val="90000"/>
              </a:lnSpc>
              <a:spcAft>
                <a:spcPts val="600"/>
              </a:spcAft>
              <a:buFont typeface="Arial" panose="020B0604020202020204" pitchFamily="34" charset="0"/>
              <a:buChar char="•"/>
            </a:pPr>
            <a:r>
              <a:rPr lang="en-US" sz="3000" b="1" i="1">
                <a:solidFill>
                  <a:schemeClr val="bg1"/>
                </a:solidFill>
              </a:rPr>
              <a:t>Muhammad Abdul Sabor BSEF23M015</a:t>
            </a:r>
          </a:p>
          <a:p>
            <a:pPr marL="457200" indent="-228600" algn="ctr">
              <a:lnSpc>
                <a:spcPct val="90000"/>
              </a:lnSpc>
              <a:spcAft>
                <a:spcPts val="600"/>
              </a:spcAft>
              <a:buFont typeface="Arial" panose="020B0604020202020204" pitchFamily="34" charset="0"/>
              <a:buChar char="•"/>
            </a:pPr>
            <a:r>
              <a:rPr lang="en-US" sz="3000" b="1" i="1">
                <a:solidFill>
                  <a:schemeClr val="bg1"/>
                </a:solidFill>
              </a:rPr>
              <a:t>Haroon Ashraf Chowdary  BSEF23M009</a:t>
            </a:r>
          </a:p>
          <a:p>
            <a:pPr marL="457200" indent="-228600" algn="ctr">
              <a:lnSpc>
                <a:spcPct val="90000"/>
              </a:lnSpc>
              <a:spcAft>
                <a:spcPts val="600"/>
              </a:spcAft>
              <a:buFont typeface="Arial" panose="020B0604020202020204" pitchFamily="34" charset="0"/>
              <a:buChar char="•"/>
            </a:pPr>
            <a:r>
              <a:rPr lang="en-US" sz="3000" b="1" i="1">
                <a:solidFill>
                  <a:schemeClr val="bg1"/>
                </a:solidFill>
              </a:rPr>
              <a:t>Muhammad Abdul Kareem BSEF23M014</a:t>
            </a:r>
          </a:p>
        </p:txBody>
      </p:sp>
      <p:grpSp>
        <p:nvGrpSpPr>
          <p:cNvPr id="24"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514330" y="7184476"/>
            <a:ext cx="1265357" cy="563627"/>
            <a:chOff x="9841624" y="4115729"/>
            <a:chExt cx="602169" cy="268223"/>
          </a:xfrm>
          <a:solidFill>
            <a:schemeClr val="bg1"/>
          </a:solidFill>
        </p:grpSpPr>
        <p:sp>
          <p:nvSpPr>
            <p:cNvPr id="25" name="Freeform: Shape 24">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88948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3086100"/>
          </a:xfrm>
          <a:prstGeom prst="rect">
            <a:avLst/>
          </a:prstGeom>
        </p:spPr>
      </p:pic>
      <p:sp>
        <p:nvSpPr>
          <p:cNvPr id="3" name="Text 0"/>
          <p:cNvSpPr/>
          <p:nvPr/>
        </p:nvSpPr>
        <p:spPr>
          <a:xfrm>
            <a:off x="864037" y="3839528"/>
            <a:ext cx="12902327" cy="1371600"/>
          </a:xfrm>
          <a:prstGeom prst="rect">
            <a:avLst/>
          </a:prstGeom>
          <a:noFill/>
          <a:ln/>
        </p:spPr>
        <p:txBody>
          <a:bodyPr wrap="square" lIns="0" tIns="0" rIns="0" bIns="0" rtlCol="0" anchor="t"/>
          <a:lstStyle/>
          <a:p>
            <a:pPr marL="571500" indent="-571500">
              <a:lnSpc>
                <a:spcPts val="5400"/>
              </a:lnSpc>
              <a:buFont typeface="Wingdings" panose="05000000000000000000" pitchFamily="2" charset="2"/>
              <a:buChar char="v"/>
            </a:pPr>
            <a:r>
              <a:rPr lang="en-US" sz="4300" b="1">
                <a:solidFill>
                  <a:srgbClr val="F0FCFF"/>
                </a:solidFill>
                <a:latin typeface="Spline Sans Bold" pitchFamily="34" charset="0"/>
                <a:ea typeface="Spline Sans Bold" pitchFamily="34" charset="-122"/>
                <a:cs typeface="Spline Sans Bold" pitchFamily="34" charset="-120"/>
              </a:rPr>
              <a:t>RMTrack: A Comprehensive Requirement Elicitation Solution</a:t>
            </a:r>
            <a:endParaRPr lang="en-US" sz="4300"/>
          </a:p>
        </p:txBody>
      </p:sp>
      <p:sp>
        <p:nvSpPr>
          <p:cNvPr id="4" name="Text 1"/>
          <p:cNvSpPr/>
          <p:nvPr/>
        </p:nvSpPr>
        <p:spPr>
          <a:xfrm>
            <a:off x="864037" y="5581411"/>
            <a:ext cx="12902327" cy="2347399"/>
          </a:xfrm>
          <a:prstGeom prst="rect">
            <a:avLst/>
          </a:prstGeom>
          <a:noFill/>
          <a:ln/>
        </p:spPr>
        <p:txBody>
          <a:bodyPr wrap="square" lIns="0" tIns="0" rIns="0" bIns="0" rtlCol="0" anchor="t"/>
          <a:lstStyle/>
          <a:p>
            <a:pPr marL="1714500" lvl="3" indent="-342900" algn="ctr">
              <a:lnSpc>
                <a:spcPts val="3100"/>
              </a:lnSpc>
              <a:buFont typeface="Wingdings" panose="05000000000000000000" pitchFamily="2" charset="2"/>
              <a:buChar char="Ø"/>
            </a:pPr>
            <a:r>
              <a:rPr lang="en-US" sz="2600" b="1" i="1" u="sng" err="1">
                <a:solidFill>
                  <a:srgbClr val="E0E4E6"/>
                </a:solidFill>
                <a:latin typeface="Barlow" pitchFamily="34" charset="0"/>
                <a:ea typeface="Barlow" pitchFamily="34" charset="-122"/>
                <a:cs typeface="Barlow" pitchFamily="34" charset="-120"/>
              </a:rPr>
              <a:t>RMTrack</a:t>
            </a:r>
            <a:r>
              <a:rPr lang="en-US" sz="2600">
                <a:solidFill>
                  <a:srgbClr val="E0E4E6"/>
                </a:solidFill>
                <a:latin typeface="Barlow" pitchFamily="34" charset="0"/>
                <a:ea typeface="Barlow" pitchFamily="34" charset="-122"/>
                <a:cs typeface="Barlow" pitchFamily="34" charset="-120"/>
              </a:rPr>
              <a:t> is a</a:t>
            </a:r>
            <a:r>
              <a:rPr lang="en-US" sz="2600" b="1" i="1" u="sng">
                <a:solidFill>
                  <a:srgbClr val="E0E4E6"/>
                </a:solidFill>
                <a:latin typeface="Barlow" pitchFamily="34" charset="0"/>
                <a:ea typeface="Barlow" pitchFamily="34" charset="-122"/>
                <a:cs typeface="Barlow" pitchFamily="34" charset="-120"/>
              </a:rPr>
              <a:t> web-based tool</a:t>
            </a:r>
            <a:r>
              <a:rPr lang="en-US" sz="2600">
                <a:solidFill>
                  <a:srgbClr val="E0E4E6"/>
                </a:solidFill>
                <a:latin typeface="Barlow" pitchFamily="34" charset="0"/>
                <a:ea typeface="Barlow" pitchFamily="34" charset="-122"/>
                <a:cs typeface="Barlow" pitchFamily="34" charset="-120"/>
              </a:rPr>
              <a:t> used for </a:t>
            </a:r>
            <a:r>
              <a:rPr lang="en-US" sz="2600" b="1" i="1" u="sng">
                <a:solidFill>
                  <a:srgbClr val="E0E4E6"/>
                </a:solidFill>
                <a:latin typeface="Barlow" pitchFamily="34" charset="0"/>
                <a:ea typeface="Barlow" pitchFamily="34" charset="-122"/>
                <a:cs typeface="Barlow" pitchFamily="34" charset="-120"/>
              </a:rPr>
              <a:t>requirement management</a:t>
            </a:r>
            <a:r>
              <a:rPr lang="en-US" sz="2600">
                <a:solidFill>
                  <a:srgbClr val="E0E4E6"/>
                </a:solidFill>
                <a:latin typeface="Barlow" pitchFamily="34" charset="0"/>
                <a:ea typeface="Barlow" pitchFamily="34" charset="-122"/>
                <a:cs typeface="Barlow" pitchFamily="34" charset="-120"/>
              </a:rPr>
              <a:t> and </a:t>
            </a:r>
            <a:r>
              <a:rPr lang="en-US" sz="2600" b="1" i="1" u="sng">
                <a:solidFill>
                  <a:srgbClr val="E0E4E6"/>
                </a:solidFill>
                <a:latin typeface="Barlow" pitchFamily="34" charset="0"/>
                <a:ea typeface="Barlow" pitchFamily="34" charset="-122"/>
                <a:cs typeface="Barlow" pitchFamily="34" charset="-120"/>
              </a:rPr>
              <a:t>issue tracking</a:t>
            </a:r>
            <a:r>
              <a:rPr lang="en-US" sz="2600">
                <a:solidFill>
                  <a:srgbClr val="E0E4E6"/>
                </a:solidFill>
                <a:latin typeface="Barlow" pitchFamily="34" charset="0"/>
                <a:ea typeface="Barlow" pitchFamily="34" charset="-122"/>
                <a:cs typeface="Barlow" pitchFamily="34" charset="-120"/>
              </a:rPr>
              <a:t>. It helps teams efficiently </a:t>
            </a:r>
            <a:r>
              <a:rPr lang="en-US" sz="2600" b="1" i="1" u="sng">
                <a:solidFill>
                  <a:srgbClr val="E0E4E6"/>
                </a:solidFill>
                <a:latin typeface="Barlow" pitchFamily="34" charset="0"/>
                <a:ea typeface="Barlow" pitchFamily="34" charset="-122"/>
                <a:cs typeface="Barlow" pitchFamily="34" charset="-120"/>
              </a:rPr>
              <a:t>collect</a:t>
            </a:r>
            <a:r>
              <a:rPr lang="en-US" sz="2600">
                <a:solidFill>
                  <a:srgbClr val="E0E4E6"/>
                </a:solidFill>
                <a:latin typeface="Barlow" pitchFamily="34" charset="0"/>
                <a:ea typeface="Barlow" pitchFamily="34" charset="-122"/>
                <a:cs typeface="Barlow" pitchFamily="34" charset="-120"/>
              </a:rPr>
              <a:t>, </a:t>
            </a:r>
            <a:r>
              <a:rPr lang="en-US" sz="2600" b="1" i="1" u="sng">
                <a:solidFill>
                  <a:srgbClr val="E0E4E6"/>
                </a:solidFill>
                <a:latin typeface="Barlow" pitchFamily="34" charset="0"/>
                <a:ea typeface="Barlow" pitchFamily="34" charset="-122"/>
                <a:cs typeface="Barlow" pitchFamily="34" charset="-120"/>
              </a:rPr>
              <a:t>organize</a:t>
            </a:r>
            <a:r>
              <a:rPr lang="en-US" sz="2600">
                <a:solidFill>
                  <a:srgbClr val="E0E4E6"/>
                </a:solidFill>
                <a:latin typeface="Barlow" pitchFamily="34" charset="0"/>
                <a:ea typeface="Barlow" pitchFamily="34" charset="-122"/>
                <a:cs typeface="Barlow" pitchFamily="34" charset="-120"/>
              </a:rPr>
              <a:t>, and </a:t>
            </a:r>
            <a:r>
              <a:rPr lang="en-US" sz="2600" b="1" i="1" u="sng">
                <a:solidFill>
                  <a:srgbClr val="E0E4E6"/>
                </a:solidFill>
                <a:latin typeface="Barlow" pitchFamily="34" charset="0"/>
                <a:ea typeface="Barlow" pitchFamily="34" charset="-122"/>
                <a:cs typeface="Barlow" pitchFamily="34" charset="-120"/>
              </a:rPr>
              <a:t>manage requirements</a:t>
            </a:r>
            <a:r>
              <a:rPr lang="en-US" sz="2600">
                <a:solidFill>
                  <a:srgbClr val="E0E4E6"/>
                </a:solidFill>
                <a:latin typeface="Barlow" pitchFamily="34" charset="0"/>
                <a:ea typeface="Barlow" pitchFamily="34" charset="-122"/>
                <a:cs typeface="Barlow" pitchFamily="34" charset="-120"/>
              </a:rPr>
              <a:t>, </a:t>
            </a:r>
            <a:r>
              <a:rPr lang="en-US" sz="2600" b="1" i="1" u="sng">
                <a:solidFill>
                  <a:srgbClr val="E0E4E6"/>
                </a:solidFill>
                <a:latin typeface="Barlow" pitchFamily="34" charset="0"/>
                <a:ea typeface="Barlow" pitchFamily="34" charset="-122"/>
                <a:cs typeface="Barlow" pitchFamily="34" charset="-120"/>
              </a:rPr>
              <a:t>bugs</a:t>
            </a:r>
            <a:r>
              <a:rPr lang="en-US" sz="2600">
                <a:solidFill>
                  <a:srgbClr val="E0E4E6"/>
                </a:solidFill>
                <a:latin typeface="Barlow" pitchFamily="34" charset="0"/>
                <a:ea typeface="Barlow" pitchFamily="34" charset="-122"/>
                <a:cs typeface="Barlow" pitchFamily="34" charset="-120"/>
              </a:rPr>
              <a:t>, </a:t>
            </a:r>
            <a:r>
              <a:rPr lang="en-US" sz="2600" b="1" i="1" u="sng">
                <a:solidFill>
                  <a:srgbClr val="E0E4E6"/>
                </a:solidFill>
                <a:latin typeface="Barlow" pitchFamily="34" charset="0"/>
                <a:ea typeface="Barlow" pitchFamily="34" charset="-122"/>
                <a:cs typeface="Barlow" pitchFamily="34" charset="-120"/>
              </a:rPr>
              <a:t>tasks</a:t>
            </a:r>
            <a:r>
              <a:rPr lang="en-US" sz="2600">
                <a:solidFill>
                  <a:srgbClr val="E0E4E6"/>
                </a:solidFill>
                <a:latin typeface="Barlow" pitchFamily="34" charset="0"/>
                <a:ea typeface="Barlow" pitchFamily="34" charset="-122"/>
                <a:cs typeface="Barlow" pitchFamily="34" charset="-120"/>
              </a:rPr>
              <a:t>, and </a:t>
            </a:r>
            <a:r>
              <a:rPr lang="en-US" sz="2600" b="1" i="1" u="sng">
                <a:solidFill>
                  <a:srgbClr val="E0E4E6"/>
                </a:solidFill>
                <a:latin typeface="Barlow" pitchFamily="34" charset="0"/>
                <a:ea typeface="Barlow" pitchFamily="34" charset="-122"/>
                <a:cs typeface="Barlow" pitchFamily="34" charset="-120"/>
              </a:rPr>
              <a:t>workflows</a:t>
            </a:r>
            <a:r>
              <a:rPr lang="en-US" sz="2600">
                <a:solidFill>
                  <a:srgbClr val="E0E4E6"/>
                </a:solidFill>
                <a:latin typeface="Barlow" pitchFamily="34" charset="0"/>
                <a:ea typeface="Barlow" pitchFamily="34" charset="-122"/>
                <a:cs typeface="Barlow" pitchFamily="34" charset="-120"/>
              </a:rPr>
              <a:t> within projects. It centralizes </a:t>
            </a:r>
            <a:r>
              <a:rPr lang="en-US" sz="2600" b="1" i="1" u="sng">
                <a:solidFill>
                  <a:srgbClr val="E0E4E6"/>
                </a:solidFill>
                <a:latin typeface="Barlow" pitchFamily="34" charset="0"/>
                <a:ea typeface="Barlow" pitchFamily="34" charset="-122"/>
                <a:cs typeface="Barlow" pitchFamily="34" charset="-120"/>
              </a:rPr>
              <a:t>project-related data</a:t>
            </a:r>
            <a:r>
              <a:rPr lang="en-US" sz="2600">
                <a:solidFill>
                  <a:srgbClr val="E0E4E6"/>
                </a:solidFill>
                <a:latin typeface="Barlow" pitchFamily="34" charset="0"/>
                <a:ea typeface="Barlow" pitchFamily="34" charset="-122"/>
                <a:cs typeface="Barlow" pitchFamily="34" charset="-120"/>
              </a:rPr>
              <a:t>, allowing teams to </a:t>
            </a:r>
            <a:r>
              <a:rPr lang="en-US" sz="2600" b="1" i="1" u="sng">
                <a:solidFill>
                  <a:srgbClr val="E0E4E6"/>
                </a:solidFill>
                <a:latin typeface="Barlow" pitchFamily="34" charset="0"/>
                <a:ea typeface="Barlow" pitchFamily="34" charset="-122"/>
                <a:cs typeface="Barlow" pitchFamily="34" charset="-120"/>
              </a:rPr>
              <a:t>collaborate effectively</a:t>
            </a:r>
            <a:r>
              <a:rPr lang="en-US" sz="2600">
                <a:solidFill>
                  <a:srgbClr val="E0E4E6"/>
                </a:solidFill>
                <a:latin typeface="Barlow" pitchFamily="34" charset="0"/>
                <a:ea typeface="Barlow" pitchFamily="34" charset="-122"/>
                <a:cs typeface="Barlow" pitchFamily="34" charset="-120"/>
              </a:rPr>
              <a:t>, </a:t>
            </a:r>
            <a:r>
              <a:rPr lang="en-US" sz="2600" b="1" i="1" u="sng">
                <a:solidFill>
                  <a:srgbClr val="E0E4E6"/>
                </a:solidFill>
                <a:latin typeface="Barlow" pitchFamily="34" charset="0"/>
                <a:ea typeface="Barlow" pitchFamily="34" charset="-122"/>
                <a:cs typeface="Barlow" pitchFamily="34" charset="-120"/>
              </a:rPr>
              <a:t>track project progress</a:t>
            </a:r>
            <a:r>
              <a:rPr lang="en-US" sz="2600">
                <a:solidFill>
                  <a:srgbClr val="E0E4E6"/>
                </a:solidFill>
                <a:latin typeface="Barlow" pitchFamily="34" charset="0"/>
                <a:ea typeface="Barlow" pitchFamily="34" charset="-122"/>
                <a:cs typeface="Barlow" pitchFamily="34" charset="-120"/>
              </a:rPr>
              <a:t>, and ensure tasks are </a:t>
            </a:r>
            <a:r>
              <a:rPr lang="en-US" sz="2600" b="1" i="1" u="sng">
                <a:solidFill>
                  <a:srgbClr val="E0E4E6"/>
                </a:solidFill>
                <a:latin typeface="Barlow" pitchFamily="34" charset="0"/>
                <a:ea typeface="Barlow" pitchFamily="34" charset="-122"/>
                <a:cs typeface="Barlow" pitchFamily="34" charset="-120"/>
              </a:rPr>
              <a:t>completed on time</a:t>
            </a:r>
            <a:r>
              <a:rPr lang="en-US" sz="2600">
                <a:solidFill>
                  <a:srgbClr val="E0E4E6"/>
                </a:solidFill>
                <a:latin typeface="Barlow" pitchFamily="34" charset="0"/>
                <a:ea typeface="Barlow" pitchFamily="34" charset="-122"/>
                <a:cs typeface="Barlow" pitchFamily="34" charset="-120"/>
              </a:rPr>
              <a:t>.</a:t>
            </a:r>
            <a:endParaRPr lang="en-US" sz="2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864037" y="1872258"/>
            <a:ext cx="10034707" cy="685800"/>
          </a:xfrm>
          <a:prstGeom prst="rect">
            <a:avLst/>
          </a:prstGeom>
          <a:noFill/>
          <a:ln/>
        </p:spPr>
        <p:txBody>
          <a:bodyPr wrap="none" lIns="0" tIns="0" rIns="0" bIns="0" rtlCol="0" anchor="t"/>
          <a:lstStyle/>
          <a:p>
            <a:pPr marL="571500" indent="-571500">
              <a:lnSpc>
                <a:spcPts val="5400"/>
              </a:lnSpc>
              <a:buFont typeface="Wingdings" panose="05000000000000000000" pitchFamily="2" charset="2"/>
              <a:buChar char="v"/>
            </a:pPr>
            <a:r>
              <a:rPr lang="en-US" sz="4300" b="1">
                <a:solidFill>
                  <a:srgbClr val="F0FCFF"/>
                </a:solidFill>
                <a:latin typeface="Spline Sans Bold" pitchFamily="34" charset="0"/>
                <a:ea typeface="Spline Sans Bold" pitchFamily="34" charset="-122"/>
                <a:cs typeface="Spline Sans Bold" pitchFamily="34" charset="-120"/>
              </a:rPr>
              <a:t>Understanding Requirement Elicitation</a:t>
            </a:r>
            <a:endParaRPr lang="en-US" sz="4300"/>
          </a:p>
        </p:txBody>
      </p:sp>
      <p:sp>
        <p:nvSpPr>
          <p:cNvPr id="3" name="Text 1"/>
          <p:cNvSpPr/>
          <p:nvPr/>
        </p:nvSpPr>
        <p:spPr>
          <a:xfrm>
            <a:off x="864037" y="3175158"/>
            <a:ext cx="2743200" cy="819325"/>
          </a:xfrm>
          <a:prstGeom prst="rect">
            <a:avLst/>
          </a:prstGeom>
          <a:noFill/>
          <a:ln/>
        </p:spPr>
        <p:txBody>
          <a:bodyPr wrap="none" lIns="0" tIns="0" rIns="0" bIns="0" rtlCol="0" anchor="t"/>
          <a:lstStyle/>
          <a:p>
            <a:pPr marL="457200" indent="-457200">
              <a:lnSpc>
                <a:spcPts val="2700"/>
              </a:lnSpc>
              <a:buFontTx/>
              <a:buChar char="۞"/>
            </a:pPr>
            <a:r>
              <a:rPr lang="en-US" sz="3000" b="1">
                <a:solidFill>
                  <a:srgbClr val="F0FCFF"/>
                </a:solidFill>
                <a:latin typeface="Spline Sans Bold" pitchFamily="34" charset="0"/>
                <a:ea typeface="Spline Sans Bold" pitchFamily="34" charset="-122"/>
                <a:cs typeface="Spline Sans Bold" pitchFamily="34" charset="-120"/>
              </a:rPr>
              <a:t>Definition</a:t>
            </a:r>
            <a:endParaRPr lang="en-US" sz="3000"/>
          </a:p>
        </p:txBody>
      </p:sp>
      <p:sp>
        <p:nvSpPr>
          <p:cNvPr id="4" name="Text 2"/>
          <p:cNvSpPr/>
          <p:nvPr/>
        </p:nvSpPr>
        <p:spPr>
          <a:xfrm>
            <a:off x="864037" y="3725027"/>
            <a:ext cx="6150054" cy="1975247"/>
          </a:xfrm>
          <a:prstGeom prst="rect">
            <a:avLst/>
          </a:prstGeom>
          <a:noFill/>
          <a:ln/>
        </p:spPr>
        <p:txBody>
          <a:bodyPr wrap="square" lIns="0" tIns="0" rIns="0" bIns="0" rtlCol="0" anchor="t"/>
          <a:lstStyle/>
          <a:p>
            <a:pPr marL="342900" indent="-342900" algn="ctr">
              <a:lnSpc>
                <a:spcPts val="3100"/>
              </a:lnSpc>
              <a:buFont typeface="Wingdings" panose="05000000000000000000" pitchFamily="2" charset="2"/>
              <a:buChar char="Ø"/>
            </a:pPr>
            <a:r>
              <a:rPr lang="en-US" sz="2400">
                <a:solidFill>
                  <a:srgbClr val="E0E4E6"/>
                </a:solidFill>
                <a:latin typeface="Barlow" pitchFamily="34" charset="0"/>
                <a:ea typeface="Barlow" pitchFamily="34" charset="-122"/>
                <a:cs typeface="Barlow" pitchFamily="34" charset="-120"/>
              </a:rPr>
              <a:t>Requirement Elicitation is the process of gathering and documenting the needs and expectations of stakeholders for a software project. This involves understanding the problem, the desired solution, and the project’s constraints and limitations.</a:t>
            </a:r>
            <a:endParaRPr lang="en-US" sz="2400"/>
          </a:p>
        </p:txBody>
      </p:sp>
      <p:sp>
        <p:nvSpPr>
          <p:cNvPr id="5" name="Text 3"/>
          <p:cNvSpPr/>
          <p:nvPr/>
        </p:nvSpPr>
        <p:spPr>
          <a:xfrm>
            <a:off x="7623929" y="3175159"/>
            <a:ext cx="2743200" cy="342900"/>
          </a:xfrm>
          <a:prstGeom prst="rect">
            <a:avLst/>
          </a:prstGeom>
          <a:noFill/>
          <a:ln/>
        </p:spPr>
        <p:txBody>
          <a:bodyPr wrap="none" lIns="0" tIns="0" rIns="0" bIns="0" rtlCol="0" anchor="t"/>
          <a:lstStyle/>
          <a:p>
            <a:pPr marL="457200" indent="-457200">
              <a:lnSpc>
                <a:spcPts val="2700"/>
              </a:lnSpc>
              <a:buFontTx/>
              <a:buChar char="۞"/>
            </a:pPr>
            <a:r>
              <a:rPr lang="en-US" sz="3000" b="1">
                <a:solidFill>
                  <a:srgbClr val="F0FCFF"/>
                </a:solidFill>
                <a:latin typeface="Spline Sans Bold" pitchFamily="34" charset="0"/>
                <a:ea typeface="Spline Sans Bold" pitchFamily="34" charset="-122"/>
                <a:cs typeface="Spline Sans Bold" pitchFamily="34" charset="-120"/>
              </a:rPr>
              <a:t>Why Tools Matter</a:t>
            </a:r>
            <a:endParaRPr lang="en-US" sz="3000"/>
          </a:p>
        </p:txBody>
      </p:sp>
      <p:sp>
        <p:nvSpPr>
          <p:cNvPr id="6" name="Text 4"/>
          <p:cNvSpPr/>
          <p:nvPr/>
        </p:nvSpPr>
        <p:spPr>
          <a:xfrm>
            <a:off x="7623929" y="3764875"/>
            <a:ext cx="6150054" cy="2370296"/>
          </a:xfrm>
          <a:prstGeom prst="rect">
            <a:avLst/>
          </a:prstGeom>
          <a:noFill/>
          <a:ln/>
        </p:spPr>
        <p:txBody>
          <a:bodyPr wrap="square" lIns="0" tIns="0" rIns="0" bIns="0" rtlCol="0" anchor="t"/>
          <a:lstStyle/>
          <a:p>
            <a:pPr marL="342900" indent="-342900" algn="ctr">
              <a:lnSpc>
                <a:spcPts val="3100"/>
              </a:lnSpc>
              <a:buFont typeface="Wingdings" panose="05000000000000000000" pitchFamily="2" charset="2"/>
              <a:buChar char="Ø"/>
            </a:pPr>
            <a:r>
              <a:rPr lang="en-US" sz="2400">
                <a:solidFill>
                  <a:srgbClr val="E0E4E6"/>
                </a:solidFill>
                <a:latin typeface="Barlow"/>
                <a:ea typeface="Barlow" pitchFamily="34" charset="-122"/>
                <a:cs typeface="Barlow" pitchFamily="34" charset="-120"/>
              </a:rPr>
              <a:t>Tools like RMTrack play a vital role in improving the efficiency and effectiveness of the requirement elicitation process. </a:t>
            </a:r>
            <a:r>
              <a:rPr lang="en-US" sz="2400" b="1">
                <a:solidFill>
                  <a:srgbClr val="E0E4E6"/>
                </a:solidFill>
                <a:latin typeface="Barlow"/>
                <a:ea typeface="Barlow" pitchFamily="34" charset="-122"/>
                <a:cs typeface="Barlow" pitchFamily="34" charset="-120"/>
              </a:rPr>
              <a:t>They provide structured frameworks for capturing, organizing, and tracking requirements, ensuring clarity, consistency, and traceability</a:t>
            </a:r>
            <a:r>
              <a:rPr lang="en-US" sz="2400">
                <a:solidFill>
                  <a:srgbClr val="E0E4E6"/>
                </a:solidFill>
                <a:latin typeface="Barlow"/>
                <a:ea typeface="Barlow" pitchFamily="34" charset="-122"/>
                <a:cs typeface="Barlow" pitchFamily="34" charset="-120"/>
              </a:rPr>
              <a:t> throughout the project lifecycle.</a:t>
            </a:r>
            <a:endParaRPr lang="en-US" sz="2400">
              <a:latin typeface="Barlow"/>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12032"/>
            <a:ext cx="14630400" cy="8229600"/>
          </a:xfrm>
          <a:prstGeom prst="rect">
            <a:avLst/>
          </a:prstGeom>
          <a:solidFill>
            <a:srgbClr val="0A081B">
              <a:alpha val="80000"/>
            </a:srgbClr>
          </a:solidFill>
          <a:ln/>
        </p:spPr>
        <p:txBody>
          <a:bodyPr/>
          <a:lstStyle/>
          <a:p>
            <a:endParaRPr lang="en-US"/>
          </a:p>
        </p:txBody>
      </p:sp>
      <p:sp>
        <p:nvSpPr>
          <p:cNvPr id="4" name="Text 1"/>
          <p:cNvSpPr/>
          <p:nvPr/>
        </p:nvSpPr>
        <p:spPr>
          <a:xfrm>
            <a:off x="864037" y="916900"/>
            <a:ext cx="8247221" cy="685800"/>
          </a:xfrm>
          <a:prstGeom prst="rect">
            <a:avLst/>
          </a:prstGeom>
          <a:noFill/>
          <a:ln/>
        </p:spPr>
        <p:txBody>
          <a:bodyPr wrap="none" lIns="0" tIns="0" rIns="0" bIns="0" rtlCol="0" anchor="t"/>
          <a:lstStyle/>
          <a:p>
            <a:pPr marL="571500" indent="-571500">
              <a:lnSpc>
                <a:spcPts val="5400"/>
              </a:lnSpc>
              <a:buFont typeface="Wingdings" panose="05000000000000000000" pitchFamily="2" charset="2"/>
              <a:buChar char="v"/>
            </a:pPr>
            <a:r>
              <a:rPr lang="en-US" sz="4300" b="1">
                <a:solidFill>
                  <a:srgbClr val="F0FCFF"/>
                </a:solidFill>
                <a:latin typeface="Spline Sans Bold" pitchFamily="34" charset="0"/>
                <a:ea typeface="Spline Sans Bold" pitchFamily="34" charset="-122"/>
                <a:cs typeface="Spline Sans Bold" pitchFamily="34" charset="-120"/>
              </a:rPr>
              <a:t>RMTrack: A Web-Based Solution</a:t>
            </a:r>
            <a:endParaRPr lang="en-US" sz="4300"/>
          </a:p>
        </p:txBody>
      </p:sp>
      <p:sp>
        <p:nvSpPr>
          <p:cNvPr id="5" name="Shape 2"/>
          <p:cNvSpPr/>
          <p:nvPr/>
        </p:nvSpPr>
        <p:spPr>
          <a:xfrm>
            <a:off x="864037" y="2250638"/>
            <a:ext cx="555427" cy="555427"/>
          </a:xfrm>
          <a:prstGeom prst="roundRect">
            <a:avLst>
              <a:gd name="adj" fmla="val 66675"/>
            </a:avLst>
          </a:prstGeom>
          <a:solidFill>
            <a:srgbClr val="0A081B"/>
          </a:solidFill>
          <a:ln w="30480">
            <a:solidFill>
              <a:srgbClr val="16FFBB"/>
            </a:solidFill>
            <a:prstDash val="solid"/>
          </a:ln>
        </p:spPr>
        <p:txBody>
          <a:bodyPr/>
          <a:lstStyle/>
          <a:p>
            <a:endParaRPr lang="en-US"/>
          </a:p>
        </p:txBody>
      </p:sp>
      <p:sp>
        <p:nvSpPr>
          <p:cNvPr id="6" name="Text 3"/>
          <p:cNvSpPr/>
          <p:nvPr/>
        </p:nvSpPr>
        <p:spPr>
          <a:xfrm>
            <a:off x="1070491" y="2363748"/>
            <a:ext cx="142399" cy="329208"/>
          </a:xfrm>
          <a:prstGeom prst="rect">
            <a:avLst/>
          </a:prstGeom>
          <a:noFill/>
          <a:ln/>
        </p:spPr>
        <p:txBody>
          <a:bodyPr wrap="none" lIns="0" tIns="0" rIns="0" bIns="0" rtlCol="0" anchor="t"/>
          <a:lstStyle/>
          <a:p>
            <a:pPr marL="0" indent="0" algn="ctr">
              <a:lnSpc>
                <a:spcPts val="2550"/>
              </a:lnSpc>
              <a:buNone/>
            </a:pPr>
            <a:r>
              <a:rPr lang="en-US" sz="2550" b="1">
                <a:solidFill>
                  <a:srgbClr val="E0E4E6"/>
                </a:solidFill>
                <a:latin typeface="Spline Sans Bold" pitchFamily="34" charset="0"/>
                <a:ea typeface="Spline Sans Bold" pitchFamily="34" charset="-122"/>
                <a:cs typeface="Spline Sans Bold" pitchFamily="34" charset="-120"/>
              </a:rPr>
              <a:t>1</a:t>
            </a:r>
            <a:endParaRPr lang="en-US" sz="2550"/>
          </a:p>
        </p:txBody>
      </p:sp>
      <p:sp>
        <p:nvSpPr>
          <p:cNvPr id="7" name="Text 4"/>
          <p:cNvSpPr/>
          <p:nvPr/>
        </p:nvSpPr>
        <p:spPr>
          <a:xfrm>
            <a:off x="1666280" y="2250638"/>
            <a:ext cx="3333988" cy="685800"/>
          </a:xfrm>
          <a:prstGeom prst="rect">
            <a:avLst/>
          </a:prstGeom>
          <a:noFill/>
          <a:ln/>
        </p:spPr>
        <p:txBody>
          <a:bodyPr wrap="square" lIns="0" tIns="0" rIns="0" bIns="0" rtlCol="0" anchor="t"/>
          <a:lstStyle/>
          <a:p>
            <a:pPr marL="0" indent="0">
              <a:lnSpc>
                <a:spcPts val="2700"/>
              </a:lnSpc>
              <a:buNone/>
            </a:pPr>
            <a:r>
              <a:rPr lang="en-US" sz="2150" b="1">
                <a:solidFill>
                  <a:srgbClr val="E0E4E6"/>
                </a:solidFill>
                <a:latin typeface="Spline Sans Bold" pitchFamily="34" charset="0"/>
                <a:ea typeface="Spline Sans Bold" pitchFamily="34" charset="-122"/>
                <a:cs typeface="Spline Sans Bold" pitchFamily="34" charset="-120"/>
              </a:rPr>
              <a:t>Web-Based Customization</a:t>
            </a:r>
            <a:endParaRPr lang="en-US" sz="2150"/>
          </a:p>
        </p:txBody>
      </p:sp>
      <p:sp>
        <p:nvSpPr>
          <p:cNvPr id="8" name="Text 5"/>
          <p:cNvSpPr/>
          <p:nvPr/>
        </p:nvSpPr>
        <p:spPr>
          <a:xfrm>
            <a:off x="1666280" y="3084552"/>
            <a:ext cx="3333988" cy="1975247"/>
          </a:xfrm>
          <a:prstGeom prst="rect">
            <a:avLst/>
          </a:prstGeom>
          <a:noFill/>
          <a:ln/>
        </p:spPr>
        <p:txBody>
          <a:bodyPr wrap="square" lIns="0" tIns="0" rIns="0" bIns="0" rtlCol="0" anchor="t"/>
          <a:lstStyle/>
          <a:p>
            <a:pPr marL="0" indent="0" algn="ctr">
              <a:lnSpc>
                <a:spcPts val="3100"/>
              </a:lnSpc>
              <a:buNone/>
            </a:pPr>
            <a:r>
              <a:rPr lang="en-US" sz="2400">
                <a:solidFill>
                  <a:srgbClr val="E0E4E6"/>
                </a:solidFill>
                <a:latin typeface="Barlow"/>
                <a:ea typeface="Barlow" pitchFamily="34" charset="-122"/>
                <a:cs typeface="Barlow" pitchFamily="34" charset="-120"/>
              </a:rPr>
              <a:t>RMTrack is a cloud-based solution that </a:t>
            </a:r>
            <a:r>
              <a:rPr lang="en-US" sz="2400" b="1">
                <a:solidFill>
                  <a:srgbClr val="E0E4E6"/>
                </a:solidFill>
                <a:latin typeface="Barlow"/>
                <a:ea typeface="Barlow" pitchFamily="34" charset="-122"/>
                <a:cs typeface="Barlow" pitchFamily="34" charset="-120"/>
              </a:rPr>
              <a:t>enables teams to access and collaborate </a:t>
            </a:r>
            <a:r>
              <a:rPr lang="en-US" sz="2400">
                <a:solidFill>
                  <a:srgbClr val="E0E4E6"/>
                </a:solidFill>
                <a:latin typeface="Barlow"/>
                <a:ea typeface="Barlow" pitchFamily="34" charset="-122"/>
                <a:cs typeface="Barlow" pitchFamily="34" charset="-120"/>
              </a:rPr>
              <a:t>on requirements from </a:t>
            </a:r>
            <a:r>
              <a:rPr lang="en-US" sz="2400" b="1">
                <a:solidFill>
                  <a:srgbClr val="E0E4E6"/>
                </a:solidFill>
                <a:latin typeface="Barlow"/>
                <a:ea typeface="Barlow" pitchFamily="34" charset="-122"/>
                <a:cs typeface="Barlow" pitchFamily="34" charset="-120"/>
              </a:rPr>
              <a:t>any location with internet access</a:t>
            </a:r>
            <a:r>
              <a:rPr lang="en-US" sz="2400">
                <a:solidFill>
                  <a:srgbClr val="E0E4E6"/>
                </a:solidFill>
                <a:latin typeface="Barlow"/>
                <a:ea typeface="Barlow" pitchFamily="34" charset="-122"/>
                <a:cs typeface="Barlow" pitchFamily="34" charset="-120"/>
              </a:rPr>
              <a:t>.</a:t>
            </a:r>
            <a:endParaRPr lang="en-US" sz="2400">
              <a:latin typeface="Barlow"/>
            </a:endParaRPr>
          </a:p>
        </p:txBody>
      </p:sp>
      <p:sp>
        <p:nvSpPr>
          <p:cNvPr id="9" name="Shape 6"/>
          <p:cNvSpPr/>
          <p:nvPr/>
        </p:nvSpPr>
        <p:spPr>
          <a:xfrm>
            <a:off x="5247084" y="2250638"/>
            <a:ext cx="555427" cy="555427"/>
          </a:xfrm>
          <a:prstGeom prst="roundRect">
            <a:avLst>
              <a:gd name="adj" fmla="val 66675"/>
            </a:avLst>
          </a:prstGeom>
          <a:solidFill>
            <a:srgbClr val="0A081B"/>
          </a:solidFill>
          <a:ln w="30480">
            <a:solidFill>
              <a:srgbClr val="29DDDA"/>
            </a:solidFill>
            <a:prstDash val="solid"/>
          </a:ln>
        </p:spPr>
        <p:txBody>
          <a:bodyPr/>
          <a:lstStyle/>
          <a:p>
            <a:endParaRPr lang="en-US"/>
          </a:p>
        </p:txBody>
      </p:sp>
      <p:sp>
        <p:nvSpPr>
          <p:cNvPr id="10" name="Text 7"/>
          <p:cNvSpPr/>
          <p:nvPr/>
        </p:nvSpPr>
        <p:spPr>
          <a:xfrm>
            <a:off x="5433298" y="2363748"/>
            <a:ext cx="182999" cy="329208"/>
          </a:xfrm>
          <a:prstGeom prst="rect">
            <a:avLst/>
          </a:prstGeom>
          <a:noFill/>
          <a:ln/>
        </p:spPr>
        <p:txBody>
          <a:bodyPr wrap="none" lIns="0" tIns="0" rIns="0" bIns="0" rtlCol="0" anchor="t"/>
          <a:lstStyle/>
          <a:p>
            <a:pPr marL="0" indent="0" algn="ctr">
              <a:lnSpc>
                <a:spcPts val="2550"/>
              </a:lnSpc>
              <a:buNone/>
            </a:pPr>
            <a:r>
              <a:rPr lang="en-US" sz="2550" b="1">
                <a:solidFill>
                  <a:srgbClr val="E0E4E6"/>
                </a:solidFill>
                <a:latin typeface="Spline Sans Bold" pitchFamily="34" charset="0"/>
                <a:ea typeface="Spline Sans Bold" pitchFamily="34" charset="-122"/>
                <a:cs typeface="Spline Sans Bold" pitchFamily="34" charset="-120"/>
              </a:rPr>
              <a:t>2</a:t>
            </a:r>
            <a:endParaRPr lang="en-US" sz="2550"/>
          </a:p>
        </p:txBody>
      </p:sp>
      <p:sp>
        <p:nvSpPr>
          <p:cNvPr id="11" name="Text 8"/>
          <p:cNvSpPr/>
          <p:nvPr/>
        </p:nvSpPr>
        <p:spPr>
          <a:xfrm>
            <a:off x="6049328" y="2250638"/>
            <a:ext cx="3333988" cy="685800"/>
          </a:xfrm>
          <a:prstGeom prst="rect">
            <a:avLst/>
          </a:prstGeom>
          <a:noFill/>
          <a:ln/>
        </p:spPr>
        <p:txBody>
          <a:bodyPr wrap="square" lIns="0" tIns="0" rIns="0" bIns="0" rtlCol="0" anchor="t"/>
          <a:lstStyle/>
          <a:p>
            <a:pPr marL="0" indent="0">
              <a:lnSpc>
                <a:spcPts val="2700"/>
              </a:lnSpc>
              <a:buNone/>
            </a:pPr>
            <a:r>
              <a:rPr lang="en-US" sz="2150" b="1">
                <a:solidFill>
                  <a:srgbClr val="E0E4E6"/>
                </a:solidFill>
                <a:latin typeface="Spline Sans Bold" pitchFamily="34" charset="0"/>
                <a:ea typeface="Spline Sans Bold" pitchFamily="34" charset="-122"/>
                <a:cs typeface="Spline Sans Bold" pitchFamily="34" charset="-120"/>
              </a:rPr>
              <a:t>Comprehensive Management</a:t>
            </a:r>
            <a:endParaRPr lang="en-US" sz="2150"/>
          </a:p>
        </p:txBody>
      </p:sp>
      <p:sp>
        <p:nvSpPr>
          <p:cNvPr id="12" name="Text 9"/>
          <p:cNvSpPr/>
          <p:nvPr/>
        </p:nvSpPr>
        <p:spPr>
          <a:xfrm>
            <a:off x="6049328" y="3084552"/>
            <a:ext cx="3333988" cy="2370296"/>
          </a:xfrm>
          <a:prstGeom prst="rect">
            <a:avLst/>
          </a:prstGeom>
          <a:noFill/>
          <a:ln/>
        </p:spPr>
        <p:txBody>
          <a:bodyPr wrap="square" lIns="0" tIns="0" rIns="0" bIns="0" rtlCol="0" anchor="t"/>
          <a:lstStyle/>
          <a:p>
            <a:pPr marL="0" indent="0" algn="ctr">
              <a:lnSpc>
                <a:spcPts val="3100"/>
              </a:lnSpc>
              <a:buNone/>
            </a:pPr>
            <a:r>
              <a:rPr lang="en-US" sz="2400">
                <a:solidFill>
                  <a:srgbClr val="E0E4E6"/>
                </a:solidFill>
                <a:latin typeface="Barlow"/>
                <a:ea typeface="Barlow" pitchFamily="34" charset="-122"/>
                <a:cs typeface="Barlow" pitchFamily="34" charset="-120"/>
              </a:rPr>
              <a:t>It offers a comprehensive suite of features for </a:t>
            </a:r>
            <a:r>
              <a:rPr lang="en-US" sz="2400" b="1">
                <a:solidFill>
                  <a:srgbClr val="E0E4E6"/>
                </a:solidFill>
                <a:latin typeface="Barlow"/>
                <a:ea typeface="Barlow" pitchFamily="34" charset="-122"/>
                <a:cs typeface="Barlow" pitchFamily="34" charset="-120"/>
              </a:rPr>
              <a:t>managing requirements, bugs, tasks, and related activities</a:t>
            </a:r>
            <a:r>
              <a:rPr lang="en-US" sz="2400">
                <a:solidFill>
                  <a:srgbClr val="E0E4E6"/>
                </a:solidFill>
                <a:latin typeface="Barlow"/>
                <a:ea typeface="Barlow" pitchFamily="34" charset="-122"/>
                <a:cs typeface="Barlow" pitchFamily="34" charset="-120"/>
              </a:rPr>
              <a:t>, providing a centralized platform for project coordination.</a:t>
            </a:r>
            <a:endParaRPr lang="en-US" sz="2400">
              <a:latin typeface="Barlow"/>
            </a:endParaRPr>
          </a:p>
        </p:txBody>
      </p:sp>
      <p:sp>
        <p:nvSpPr>
          <p:cNvPr id="13" name="Shape 10"/>
          <p:cNvSpPr/>
          <p:nvPr/>
        </p:nvSpPr>
        <p:spPr>
          <a:xfrm>
            <a:off x="9630132" y="2250638"/>
            <a:ext cx="555427" cy="555427"/>
          </a:xfrm>
          <a:prstGeom prst="roundRect">
            <a:avLst>
              <a:gd name="adj" fmla="val 66675"/>
            </a:avLst>
          </a:prstGeom>
          <a:solidFill>
            <a:srgbClr val="0A081B"/>
          </a:solidFill>
          <a:ln w="30480">
            <a:solidFill>
              <a:srgbClr val="37A7E7"/>
            </a:solidFill>
            <a:prstDash val="solid"/>
          </a:ln>
        </p:spPr>
        <p:txBody>
          <a:bodyPr/>
          <a:lstStyle/>
          <a:p>
            <a:endParaRPr lang="en-US"/>
          </a:p>
        </p:txBody>
      </p:sp>
      <p:sp>
        <p:nvSpPr>
          <p:cNvPr id="14" name="Text 11"/>
          <p:cNvSpPr/>
          <p:nvPr/>
        </p:nvSpPr>
        <p:spPr>
          <a:xfrm>
            <a:off x="9811464" y="2363748"/>
            <a:ext cx="192762" cy="329208"/>
          </a:xfrm>
          <a:prstGeom prst="rect">
            <a:avLst/>
          </a:prstGeom>
          <a:noFill/>
          <a:ln/>
        </p:spPr>
        <p:txBody>
          <a:bodyPr wrap="none" lIns="0" tIns="0" rIns="0" bIns="0" rtlCol="0" anchor="t"/>
          <a:lstStyle/>
          <a:p>
            <a:pPr marL="0" indent="0" algn="ctr">
              <a:lnSpc>
                <a:spcPts val="2550"/>
              </a:lnSpc>
              <a:buNone/>
            </a:pPr>
            <a:r>
              <a:rPr lang="en-US" sz="2550" b="1">
                <a:solidFill>
                  <a:srgbClr val="E0E4E6"/>
                </a:solidFill>
                <a:latin typeface="Spline Sans Bold" pitchFamily="34" charset="0"/>
                <a:ea typeface="Spline Sans Bold" pitchFamily="34" charset="-122"/>
                <a:cs typeface="Spline Sans Bold" pitchFamily="34" charset="-120"/>
              </a:rPr>
              <a:t>3</a:t>
            </a:r>
            <a:endParaRPr lang="en-US" sz="2550"/>
          </a:p>
        </p:txBody>
      </p:sp>
      <p:sp>
        <p:nvSpPr>
          <p:cNvPr id="15" name="Text 12"/>
          <p:cNvSpPr/>
          <p:nvPr/>
        </p:nvSpPr>
        <p:spPr>
          <a:xfrm>
            <a:off x="10432375" y="2250638"/>
            <a:ext cx="2743200" cy="342900"/>
          </a:xfrm>
          <a:prstGeom prst="rect">
            <a:avLst/>
          </a:prstGeom>
          <a:noFill/>
          <a:ln/>
        </p:spPr>
        <p:txBody>
          <a:bodyPr wrap="none" lIns="0" tIns="0" rIns="0" bIns="0" rtlCol="0" anchor="t"/>
          <a:lstStyle/>
          <a:p>
            <a:pPr marL="0" indent="0">
              <a:lnSpc>
                <a:spcPts val="2700"/>
              </a:lnSpc>
              <a:buNone/>
            </a:pPr>
            <a:r>
              <a:rPr lang="en-US" sz="2150" b="1">
                <a:solidFill>
                  <a:srgbClr val="E0E4E6"/>
                </a:solidFill>
                <a:latin typeface="Spline Sans Bold" pitchFamily="34" charset="0"/>
                <a:ea typeface="Spline Sans Bold" pitchFamily="34" charset="-122"/>
                <a:cs typeface="Spline Sans Bold" pitchFamily="34" charset="-120"/>
              </a:rPr>
              <a:t>Targeted Audience</a:t>
            </a:r>
            <a:endParaRPr lang="en-US" sz="2150"/>
          </a:p>
        </p:txBody>
      </p:sp>
      <p:sp>
        <p:nvSpPr>
          <p:cNvPr id="16" name="Text 13"/>
          <p:cNvSpPr/>
          <p:nvPr/>
        </p:nvSpPr>
        <p:spPr>
          <a:xfrm>
            <a:off x="10432375" y="2741652"/>
            <a:ext cx="3333988" cy="2765346"/>
          </a:xfrm>
          <a:prstGeom prst="rect">
            <a:avLst/>
          </a:prstGeom>
          <a:noFill/>
          <a:ln/>
        </p:spPr>
        <p:txBody>
          <a:bodyPr wrap="square" lIns="0" tIns="0" rIns="0" bIns="0" rtlCol="0" anchor="t"/>
          <a:lstStyle/>
          <a:p>
            <a:pPr marL="0" indent="0" algn="ctr">
              <a:lnSpc>
                <a:spcPts val="3100"/>
              </a:lnSpc>
              <a:buNone/>
            </a:pPr>
            <a:r>
              <a:rPr lang="en-US" sz="2400">
                <a:solidFill>
                  <a:srgbClr val="E0E4E6"/>
                </a:solidFill>
                <a:latin typeface="Barlow"/>
                <a:ea typeface="Barlow" pitchFamily="34" charset="-122"/>
                <a:cs typeface="Barlow" pitchFamily="34" charset="-120"/>
              </a:rPr>
              <a:t>RMTrack caters to </a:t>
            </a:r>
            <a:r>
              <a:rPr lang="en-US" sz="2400" b="1">
                <a:solidFill>
                  <a:srgbClr val="E0E4E6"/>
                </a:solidFill>
                <a:latin typeface="Barlow"/>
                <a:ea typeface="Barlow" pitchFamily="34" charset="-122"/>
                <a:cs typeface="Barlow" pitchFamily="34" charset="-120"/>
              </a:rPr>
              <a:t>development teams, project managers, and organizations</a:t>
            </a:r>
            <a:r>
              <a:rPr lang="en-US" sz="2400">
                <a:solidFill>
                  <a:srgbClr val="E0E4E6"/>
                </a:solidFill>
                <a:latin typeface="Barlow"/>
                <a:ea typeface="Barlow" pitchFamily="34" charset="-122"/>
                <a:cs typeface="Barlow" pitchFamily="34" charset="-120"/>
              </a:rPr>
              <a:t> looking for a user-friendly p</a:t>
            </a:r>
            <a:r>
              <a:rPr lang="en-US" sz="2400" b="1">
                <a:solidFill>
                  <a:srgbClr val="E0E4E6"/>
                </a:solidFill>
                <a:latin typeface="Barlow"/>
                <a:ea typeface="Barlow" pitchFamily="34" charset="-122"/>
                <a:cs typeface="Barlow" pitchFamily="34" charset="-120"/>
              </a:rPr>
              <a:t>latform to streamline their requirement management processes</a:t>
            </a:r>
            <a:r>
              <a:rPr lang="en-US" sz="1900">
                <a:solidFill>
                  <a:srgbClr val="E0E4E6"/>
                </a:solidFill>
                <a:latin typeface="Barlow"/>
                <a:ea typeface="Barlow" pitchFamily="34" charset="-122"/>
                <a:cs typeface="Barlow" pitchFamily="34" charset="-120"/>
              </a:rPr>
              <a:t>.</a:t>
            </a:r>
            <a:endParaRPr lang="en-US" sz="1900">
              <a:latin typeface="Barlow"/>
            </a:endParaRPr>
          </a:p>
        </p:txBody>
      </p:sp>
      <p:sp>
        <p:nvSpPr>
          <p:cNvPr id="17" name="Shape 14"/>
          <p:cNvSpPr/>
          <p:nvPr/>
        </p:nvSpPr>
        <p:spPr>
          <a:xfrm>
            <a:off x="864037" y="6031468"/>
            <a:ext cx="555427" cy="555427"/>
          </a:xfrm>
          <a:prstGeom prst="roundRect">
            <a:avLst>
              <a:gd name="adj" fmla="val 66675"/>
            </a:avLst>
          </a:prstGeom>
          <a:solidFill>
            <a:srgbClr val="0A081B"/>
          </a:solidFill>
          <a:ln w="30480">
            <a:solidFill>
              <a:srgbClr val="C00000"/>
            </a:solidFill>
            <a:prstDash val="solid"/>
          </a:ln>
        </p:spPr>
        <p:txBody>
          <a:bodyPr/>
          <a:lstStyle/>
          <a:p>
            <a:endParaRPr lang="en-US"/>
          </a:p>
        </p:txBody>
      </p:sp>
      <p:sp>
        <p:nvSpPr>
          <p:cNvPr id="18" name="Text 15"/>
          <p:cNvSpPr/>
          <p:nvPr/>
        </p:nvSpPr>
        <p:spPr>
          <a:xfrm>
            <a:off x="1048703" y="6144578"/>
            <a:ext cx="185976" cy="329208"/>
          </a:xfrm>
          <a:prstGeom prst="rect">
            <a:avLst/>
          </a:prstGeom>
          <a:noFill/>
          <a:ln/>
        </p:spPr>
        <p:txBody>
          <a:bodyPr wrap="none" lIns="0" tIns="0" rIns="0" bIns="0" rtlCol="0" anchor="t"/>
          <a:lstStyle/>
          <a:p>
            <a:pPr marL="0" indent="0" algn="ctr">
              <a:lnSpc>
                <a:spcPts val="2550"/>
              </a:lnSpc>
              <a:buNone/>
            </a:pPr>
            <a:r>
              <a:rPr lang="en-US" sz="2550" b="1">
                <a:solidFill>
                  <a:srgbClr val="E0E4E6"/>
                </a:solidFill>
                <a:latin typeface="Spline Sans Bold" pitchFamily="34" charset="0"/>
                <a:ea typeface="Spline Sans Bold" pitchFamily="34" charset="-122"/>
                <a:cs typeface="Spline Sans Bold" pitchFamily="34" charset="-120"/>
              </a:rPr>
              <a:t>4</a:t>
            </a:r>
            <a:endParaRPr lang="en-US" sz="2550"/>
          </a:p>
        </p:txBody>
      </p:sp>
      <p:sp>
        <p:nvSpPr>
          <p:cNvPr id="19" name="Text 16"/>
          <p:cNvSpPr/>
          <p:nvPr/>
        </p:nvSpPr>
        <p:spPr>
          <a:xfrm>
            <a:off x="1666280" y="6031468"/>
            <a:ext cx="2743200" cy="342900"/>
          </a:xfrm>
          <a:prstGeom prst="rect">
            <a:avLst/>
          </a:prstGeom>
          <a:noFill/>
          <a:ln/>
        </p:spPr>
        <p:txBody>
          <a:bodyPr wrap="none" lIns="0" tIns="0" rIns="0" bIns="0" rtlCol="0" anchor="t"/>
          <a:lstStyle/>
          <a:p>
            <a:pPr marL="0" indent="0">
              <a:lnSpc>
                <a:spcPts val="2700"/>
              </a:lnSpc>
              <a:buNone/>
            </a:pPr>
            <a:r>
              <a:rPr lang="en-US" sz="2150" b="1">
                <a:solidFill>
                  <a:srgbClr val="E0E4E6"/>
                </a:solidFill>
                <a:latin typeface="Spline Sans Bold" pitchFamily="34" charset="0"/>
                <a:ea typeface="Spline Sans Bold" pitchFamily="34" charset="-122"/>
                <a:cs typeface="Spline Sans Bold" pitchFamily="34" charset="-120"/>
              </a:rPr>
              <a:t>Key Features</a:t>
            </a:r>
            <a:endParaRPr lang="en-US" sz="2150"/>
          </a:p>
        </p:txBody>
      </p:sp>
      <p:sp>
        <p:nvSpPr>
          <p:cNvPr id="20" name="Text 17"/>
          <p:cNvSpPr/>
          <p:nvPr/>
        </p:nvSpPr>
        <p:spPr>
          <a:xfrm>
            <a:off x="1666280" y="6522482"/>
            <a:ext cx="12100084" cy="790099"/>
          </a:xfrm>
          <a:prstGeom prst="rect">
            <a:avLst/>
          </a:prstGeom>
          <a:noFill/>
          <a:ln/>
        </p:spPr>
        <p:txBody>
          <a:bodyPr wrap="square" lIns="0" tIns="0" rIns="0" bIns="0" rtlCol="0" anchor="t"/>
          <a:lstStyle/>
          <a:p>
            <a:pPr marL="0" indent="0" algn="ctr">
              <a:lnSpc>
                <a:spcPts val="3100"/>
              </a:lnSpc>
              <a:buNone/>
            </a:pPr>
            <a:r>
              <a:rPr lang="en-US" sz="2400">
                <a:solidFill>
                  <a:srgbClr val="E0E4E6"/>
                </a:solidFill>
                <a:latin typeface="Barlow"/>
                <a:ea typeface="Barlow" pitchFamily="34" charset="-122"/>
                <a:cs typeface="Barlow" pitchFamily="34" charset="-120"/>
              </a:rPr>
              <a:t>RMTrack boasts a range of features, </a:t>
            </a:r>
            <a:r>
              <a:rPr lang="en-US" sz="2400" b="1">
                <a:solidFill>
                  <a:srgbClr val="E0E4E6"/>
                </a:solidFill>
                <a:latin typeface="Barlow"/>
                <a:ea typeface="Barlow" pitchFamily="34" charset="-122"/>
                <a:cs typeface="Barlow" pitchFamily="34" charset="-120"/>
              </a:rPr>
              <a:t>including customizable workflows, robust reporting and dashboards, integration capabilities, and workflow automation</a:t>
            </a:r>
            <a:r>
              <a:rPr lang="en-US" sz="2400">
                <a:solidFill>
                  <a:srgbClr val="E0E4E6"/>
                </a:solidFill>
                <a:latin typeface="Barlow"/>
                <a:ea typeface="Barlow" pitchFamily="34" charset="-122"/>
                <a:cs typeface="Barlow" pitchFamily="34" charset="-120"/>
              </a:rPr>
              <a:t>.</a:t>
            </a:r>
            <a:endParaRPr lang="en-US" sz="2400">
              <a:latin typeface="Barlow"/>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2" name="Text 0"/>
          <p:cNvSpPr/>
          <p:nvPr/>
        </p:nvSpPr>
        <p:spPr>
          <a:xfrm>
            <a:off x="659963" y="518874"/>
            <a:ext cx="4744641" cy="523637"/>
          </a:xfrm>
          <a:prstGeom prst="rect">
            <a:avLst/>
          </a:prstGeom>
          <a:noFill/>
          <a:ln/>
        </p:spPr>
        <p:txBody>
          <a:bodyPr wrap="none" lIns="0" tIns="0" rIns="0" bIns="0" rtlCol="0" anchor="t"/>
          <a:lstStyle/>
          <a:p>
            <a:pPr marL="457200" indent="-457200">
              <a:lnSpc>
                <a:spcPts val="4100"/>
              </a:lnSpc>
              <a:buFont typeface="Wingdings" panose="05000000000000000000" pitchFamily="2" charset="2"/>
              <a:buChar char="v"/>
            </a:pPr>
            <a:r>
              <a:rPr lang="en-US" sz="4300" b="1">
                <a:solidFill>
                  <a:srgbClr val="F0FCFF"/>
                </a:solidFill>
                <a:latin typeface="Spline Sans Bold" pitchFamily="34" charset="0"/>
                <a:ea typeface="Spline Sans Bold" pitchFamily="34" charset="-122"/>
                <a:cs typeface="Spline Sans Bold" pitchFamily="34" charset="-120"/>
              </a:rPr>
              <a:t>Steps to Use RMTrack</a:t>
            </a:r>
            <a:endParaRPr lang="en-US" sz="4300"/>
          </a:p>
        </p:txBody>
      </p:sp>
      <p:sp>
        <p:nvSpPr>
          <p:cNvPr id="3" name="Shape 1"/>
          <p:cNvSpPr/>
          <p:nvPr/>
        </p:nvSpPr>
        <p:spPr>
          <a:xfrm>
            <a:off x="7303770" y="1376224"/>
            <a:ext cx="22860" cy="6291143"/>
          </a:xfrm>
          <a:prstGeom prst="roundRect">
            <a:avLst>
              <a:gd name="adj" fmla="val 1237296"/>
            </a:avLst>
          </a:prstGeom>
          <a:solidFill>
            <a:srgbClr val="FFFFFF">
              <a:alpha val="24000"/>
            </a:srgbClr>
          </a:solidFill>
          <a:ln/>
        </p:spPr>
        <p:txBody>
          <a:bodyPr/>
          <a:lstStyle/>
          <a:p>
            <a:endParaRPr lang="en-US"/>
          </a:p>
        </p:txBody>
      </p:sp>
      <p:sp>
        <p:nvSpPr>
          <p:cNvPr id="4" name="Shape 2"/>
          <p:cNvSpPr/>
          <p:nvPr/>
        </p:nvSpPr>
        <p:spPr>
          <a:xfrm flipV="1">
            <a:off x="6465987" y="1666061"/>
            <a:ext cx="659963" cy="45719"/>
          </a:xfrm>
          <a:prstGeom prst="roundRect">
            <a:avLst>
              <a:gd name="adj" fmla="val 1237296"/>
            </a:avLst>
          </a:prstGeom>
          <a:solidFill>
            <a:srgbClr val="16FFBB"/>
          </a:solidFill>
          <a:ln/>
        </p:spPr>
        <p:txBody>
          <a:bodyPr/>
          <a:lstStyle/>
          <a:p>
            <a:endParaRPr lang="en-US"/>
          </a:p>
        </p:txBody>
      </p:sp>
      <p:sp>
        <p:nvSpPr>
          <p:cNvPr id="5" name="Shape 3"/>
          <p:cNvSpPr/>
          <p:nvPr/>
        </p:nvSpPr>
        <p:spPr>
          <a:xfrm>
            <a:off x="7125950" y="1505843"/>
            <a:ext cx="424220" cy="424220"/>
          </a:xfrm>
          <a:prstGeom prst="roundRect">
            <a:avLst>
              <a:gd name="adj" fmla="val 66674"/>
            </a:avLst>
          </a:prstGeom>
          <a:solidFill>
            <a:srgbClr val="0A081B"/>
          </a:solidFill>
          <a:ln w="22860">
            <a:solidFill>
              <a:srgbClr val="16FFBB"/>
            </a:solidFill>
            <a:prstDash val="solid"/>
          </a:ln>
        </p:spPr>
        <p:txBody>
          <a:bodyPr/>
          <a:lstStyle/>
          <a:p>
            <a:endParaRPr lang="en-US"/>
          </a:p>
        </p:txBody>
      </p:sp>
      <p:sp>
        <p:nvSpPr>
          <p:cNvPr id="6" name="Text 4"/>
          <p:cNvSpPr/>
          <p:nvPr/>
        </p:nvSpPr>
        <p:spPr>
          <a:xfrm>
            <a:off x="7283648" y="1596093"/>
            <a:ext cx="108823" cy="251460"/>
          </a:xfrm>
          <a:prstGeom prst="rect">
            <a:avLst/>
          </a:prstGeom>
          <a:noFill/>
          <a:ln/>
        </p:spPr>
        <p:txBody>
          <a:bodyPr wrap="none" lIns="0" tIns="0" rIns="0" bIns="0" rtlCol="0" anchor="t"/>
          <a:lstStyle/>
          <a:p>
            <a:pPr marL="0" indent="0" algn="ctr">
              <a:lnSpc>
                <a:spcPts val="1950"/>
              </a:lnSpc>
              <a:buNone/>
            </a:pPr>
            <a:r>
              <a:rPr lang="en-US" sz="1950" b="1">
                <a:solidFill>
                  <a:srgbClr val="E0E4E6"/>
                </a:solidFill>
                <a:latin typeface="Spline Sans Bold" pitchFamily="34" charset="0"/>
                <a:ea typeface="Spline Sans Bold" pitchFamily="34" charset="-122"/>
                <a:cs typeface="Spline Sans Bold" pitchFamily="34" charset="-120"/>
              </a:rPr>
              <a:t>1</a:t>
            </a:r>
            <a:endParaRPr lang="en-US" sz="1950"/>
          </a:p>
        </p:txBody>
      </p:sp>
      <p:sp>
        <p:nvSpPr>
          <p:cNvPr id="7" name="Text 5"/>
          <p:cNvSpPr/>
          <p:nvPr/>
        </p:nvSpPr>
        <p:spPr>
          <a:xfrm>
            <a:off x="4341108" y="1415644"/>
            <a:ext cx="2095143" cy="261937"/>
          </a:xfrm>
          <a:prstGeom prst="rect">
            <a:avLst/>
          </a:prstGeom>
          <a:noFill/>
          <a:ln/>
        </p:spPr>
        <p:txBody>
          <a:bodyPr wrap="none" lIns="0" tIns="0" rIns="0" bIns="0" rtlCol="0" anchor="t"/>
          <a:lstStyle/>
          <a:p>
            <a:pPr marL="0" indent="0" algn="r">
              <a:lnSpc>
                <a:spcPts val="2050"/>
              </a:lnSpc>
              <a:buNone/>
            </a:pPr>
            <a:r>
              <a:rPr lang="en-US" sz="2800" b="1" i="1" u="sng">
                <a:solidFill>
                  <a:srgbClr val="E0E4E6"/>
                </a:solidFill>
                <a:latin typeface="Spline Sans Bold" pitchFamily="34" charset="0"/>
                <a:ea typeface="Spline Sans Bold" pitchFamily="34" charset="-122"/>
                <a:cs typeface="Spline Sans Bold" pitchFamily="34" charset="-120"/>
              </a:rPr>
              <a:t>Setting Up RMTrack</a:t>
            </a:r>
            <a:endParaRPr lang="en-US" sz="2800" i="1" u="sng"/>
          </a:p>
        </p:txBody>
      </p:sp>
      <p:sp>
        <p:nvSpPr>
          <p:cNvPr id="8" name="Text 6"/>
          <p:cNvSpPr/>
          <p:nvPr/>
        </p:nvSpPr>
        <p:spPr>
          <a:xfrm>
            <a:off x="659963" y="1695641"/>
            <a:ext cx="5618202" cy="1299805"/>
          </a:xfrm>
          <a:prstGeom prst="rect">
            <a:avLst/>
          </a:prstGeom>
          <a:noFill/>
          <a:ln/>
        </p:spPr>
        <p:txBody>
          <a:bodyPr wrap="square" lIns="0" tIns="0" rIns="0" bIns="0" rtlCol="0" anchor="t"/>
          <a:lstStyle/>
          <a:p>
            <a:pPr algn="ctr">
              <a:lnSpc>
                <a:spcPts val="2350"/>
              </a:lnSpc>
            </a:pPr>
            <a:r>
              <a:rPr lang="en-US" sz="2400" i="1">
                <a:solidFill>
                  <a:schemeClr val="bg2"/>
                </a:solidFill>
                <a:latin typeface="Barlow" pitchFamily="34" charset="0"/>
                <a:ea typeface="Barlow" pitchFamily="34" charset="-122"/>
                <a:cs typeface="Barlow" pitchFamily="34" charset="-120"/>
              </a:rPr>
              <a:t>Start by visiting the </a:t>
            </a:r>
            <a:r>
              <a:rPr lang="en-US" sz="2400" i="1" err="1">
                <a:solidFill>
                  <a:schemeClr val="bg2"/>
                </a:solidFill>
                <a:latin typeface="Barlow" pitchFamily="34" charset="0"/>
                <a:ea typeface="Barlow" pitchFamily="34" charset="-122"/>
                <a:cs typeface="Barlow" pitchFamily="34" charset="-120"/>
              </a:rPr>
              <a:t>RMTrack</a:t>
            </a:r>
            <a:r>
              <a:rPr lang="en-US" sz="2400" i="1">
                <a:solidFill>
                  <a:schemeClr val="bg2"/>
                </a:solidFill>
                <a:latin typeface="Barlow" pitchFamily="34" charset="0"/>
                <a:ea typeface="Barlow" pitchFamily="34" charset="-122"/>
                <a:cs typeface="Barlow" pitchFamily="34" charset="-120"/>
              </a:rPr>
              <a:t> website, signing up for a trial, or logging in with your user credentials. </a:t>
            </a:r>
            <a:r>
              <a:rPr lang="en-US" sz="2400" i="1">
                <a:solidFill>
                  <a:schemeClr val="bg2"/>
                </a:solidFill>
                <a:effectLst/>
                <a:latin typeface="-apple-system"/>
              </a:rPr>
              <a:t>Review the </a:t>
            </a:r>
            <a:r>
              <a:rPr lang="en-US" sz="2400" i="1" strike="noStrike">
                <a:solidFill>
                  <a:schemeClr val="bg2"/>
                </a:solidFill>
                <a:effectLst/>
                <a:latin typeface="-apple-system"/>
                <a:hlinkClick r:id="rId3">
                  <a:extLst>
                    <a:ext uri="{A12FA001-AC4F-418D-AE19-62706E023703}">
                      <ahyp:hlinkClr xmlns:ahyp="http://schemas.microsoft.com/office/drawing/2018/hyperlinkcolor" val="tx"/>
                    </a:ext>
                  </a:extLst>
                </a:hlinkClick>
              </a:rPr>
              <a:t>Installation Guide (pdf)</a:t>
            </a:r>
            <a:r>
              <a:rPr lang="en-US" sz="2400" i="1">
                <a:solidFill>
                  <a:schemeClr val="bg2"/>
                </a:solidFill>
                <a:effectLst/>
                <a:latin typeface="-apple-system"/>
              </a:rPr>
              <a:t>, or follow the instructions of the installer</a:t>
            </a:r>
          </a:p>
          <a:p>
            <a:pPr marL="0" indent="0" algn="ctr">
              <a:lnSpc>
                <a:spcPts val="2350"/>
              </a:lnSpc>
              <a:buNone/>
            </a:pPr>
            <a:endParaRPr lang="en-US" sz="1450"/>
          </a:p>
        </p:txBody>
      </p:sp>
      <p:sp>
        <p:nvSpPr>
          <p:cNvPr id="9" name="Shape 7"/>
          <p:cNvSpPr/>
          <p:nvPr/>
        </p:nvSpPr>
        <p:spPr>
          <a:xfrm>
            <a:off x="7563593" y="2223006"/>
            <a:ext cx="659963" cy="22860"/>
          </a:xfrm>
          <a:prstGeom prst="roundRect">
            <a:avLst>
              <a:gd name="adj" fmla="val 1237296"/>
            </a:avLst>
          </a:prstGeom>
          <a:solidFill>
            <a:srgbClr val="29DDDA"/>
          </a:solidFill>
          <a:ln/>
        </p:spPr>
        <p:txBody>
          <a:bodyPr/>
          <a:lstStyle/>
          <a:p>
            <a:endParaRPr lang="en-US"/>
          </a:p>
        </p:txBody>
      </p:sp>
      <p:sp>
        <p:nvSpPr>
          <p:cNvPr id="10" name="Shape 8"/>
          <p:cNvSpPr/>
          <p:nvPr/>
        </p:nvSpPr>
        <p:spPr>
          <a:xfrm>
            <a:off x="7127049" y="2043061"/>
            <a:ext cx="424220" cy="424220"/>
          </a:xfrm>
          <a:prstGeom prst="roundRect">
            <a:avLst>
              <a:gd name="adj" fmla="val 66674"/>
            </a:avLst>
          </a:prstGeom>
          <a:solidFill>
            <a:srgbClr val="0A081B"/>
          </a:solidFill>
          <a:ln w="22860">
            <a:solidFill>
              <a:srgbClr val="29DDDA"/>
            </a:solidFill>
            <a:prstDash val="solid"/>
          </a:ln>
        </p:spPr>
        <p:txBody>
          <a:bodyPr/>
          <a:lstStyle/>
          <a:p>
            <a:endParaRPr lang="en-US"/>
          </a:p>
        </p:txBody>
      </p:sp>
      <p:sp>
        <p:nvSpPr>
          <p:cNvPr id="11" name="Text 9"/>
          <p:cNvSpPr/>
          <p:nvPr/>
        </p:nvSpPr>
        <p:spPr>
          <a:xfrm>
            <a:off x="7291809" y="2134505"/>
            <a:ext cx="93917" cy="303610"/>
          </a:xfrm>
          <a:prstGeom prst="rect">
            <a:avLst/>
          </a:prstGeom>
          <a:noFill/>
          <a:ln/>
        </p:spPr>
        <p:txBody>
          <a:bodyPr wrap="none" lIns="0" tIns="0" rIns="0" bIns="0" rtlCol="0" anchor="t"/>
          <a:lstStyle/>
          <a:p>
            <a:pPr marL="0" indent="0" algn="ctr">
              <a:lnSpc>
                <a:spcPts val="1950"/>
              </a:lnSpc>
              <a:buNone/>
            </a:pPr>
            <a:r>
              <a:rPr lang="en-US" sz="1950" b="1">
                <a:solidFill>
                  <a:srgbClr val="E0E4E6"/>
                </a:solidFill>
                <a:latin typeface="Spline Sans Bold" pitchFamily="34" charset="0"/>
                <a:ea typeface="Spline Sans Bold" pitchFamily="34" charset="-122"/>
                <a:cs typeface="Spline Sans Bold" pitchFamily="34" charset="-120"/>
              </a:rPr>
              <a:t>2</a:t>
            </a:r>
            <a:endParaRPr lang="en-US" sz="1950"/>
          </a:p>
        </p:txBody>
      </p:sp>
      <p:sp>
        <p:nvSpPr>
          <p:cNvPr id="12" name="Text 10"/>
          <p:cNvSpPr/>
          <p:nvPr/>
        </p:nvSpPr>
        <p:spPr>
          <a:xfrm>
            <a:off x="8223233" y="2006887"/>
            <a:ext cx="2095143" cy="261937"/>
          </a:xfrm>
          <a:prstGeom prst="rect">
            <a:avLst/>
          </a:prstGeom>
          <a:noFill/>
          <a:ln/>
        </p:spPr>
        <p:txBody>
          <a:bodyPr wrap="none" lIns="0" tIns="0" rIns="0" bIns="0" rtlCol="0" anchor="t"/>
          <a:lstStyle/>
          <a:p>
            <a:pPr marL="0" indent="0" algn="l">
              <a:lnSpc>
                <a:spcPts val="2050"/>
              </a:lnSpc>
              <a:buNone/>
            </a:pPr>
            <a:r>
              <a:rPr lang="en-US" sz="3000" b="1" i="1" u="sng">
                <a:solidFill>
                  <a:srgbClr val="E0E4E6"/>
                </a:solidFill>
                <a:latin typeface="Spline Sans Bold" pitchFamily="34" charset="0"/>
                <a:ea typeface="Spline Sans Bold" pitchFamily="34" charset="-122"/>
                <a:cs typeface="Spline Sans Bold" pitchFamily="34" charset="-120"/>
              </a:rPr>
              <a:t>Creating Projects</a:t>
            </a:r>
            <a:endParaRPr lang="en-US" sz="3000" i="1" u="sng"/>
          </a:p>
        </p:txBody>
      </p:sp>
      <p:sp>
        <p:nvSpPr>
          <p:cNvPr id="13" name="Text 11"/>
          <p:cNvSpPr/>
          <p:nvPr/>
        </p:nvSpPr>
        <p:spPr>
          <a:xfrm>
            <a:off x="8194149" y="2456961"/>
            <a:ext cx="5618202" cy="905113"/>
          </a:xfrm>
          <a:prstGeom prst="rect">
            <a:avLst/>
          </a:prstGeom>
          <a:noFill/>
          <a:ln/>
        </p:spPr>
        <p:txBody>
          <a:bodyPr wrap="square" lIns="0" tIns="0" rIns="0" bIns="0" rtlCol="0" anchor="t"/>
          <a:lstStyle/>
          <a:p>
            <a:pPr marL="0" indent="0" algn="ctr">
              <a:lnSpc>
                <a:spcPts val="2350"/>
              </a:lnSpc>
              <a:buNone/>
            </a:pPr>
            <a:r>
              <a:rPr lang="en-US" sz="2400">
                <a:solidFill>
                  <a:schemeClr val="bg2"/>
                </a:solidFill>
                <a:latin typeface="Barlow" pitchFamily="34" charset="0"/>
                <a:ea typeface="Barlow" pitchFamily="34" charset="-122"/>
                <a:cs typeface="Barlow" pitchFamily="34" charset="-120"/>
              </a:rPr>
              <a:t>Access the administration panel and create a new project or choose an existing project.</a:t>
            </a:r>
            <a:endParaRPr lang="en-US" sz="2400">
              <a:solidFill>
                <a:schemeClr val="bg2"/>
              </a:solidFill>
            </a:endParaRPr>
          </a:p>
        </p:txBody>
      </p:sp>
      <p:sp>
        <p:nvSpPr>
          <p:cNvPr id="14" name="Shape 12"/>
          <p:cNvSpPr/>
          <p:nvPr/>
        </p:nvSpPr>
        <p:spPr>
          <a:xfrm>
            <a:off x="6451183" y="3402643"/>
            <a:ext cx="659963" cy="22860"/>
          </a:xfrm>
          <a:prstGeom prst="roundRect">
            <a:avLst>
              <a:gd name="adj" fmla="val 1237296"/>
            </a:avLst>
          </a:prstGeom>
          <a:solidFill>
            <a:srgbClr val="37A7E7"/>
          </a:solidFill>
          <a:ln/>
        </p:spPr>
        <p:txBody>
          <a:bodyPr/>
          <a:lstStyle/>
          <a:p>
            <a:endParaRPr lang="en-US"/>
          </a:p>
        </p:txBody>
      </p:sp>
      <p:sp>
        <p:nvSpPr>
          <p:cNvPr id="15" name="Shape 13"/>
          <p:cNvSpPr/>
          <p:nvPr/>
        </p:nvSpPr>
        <p:spPr>
          <a:xfrm>
            <a:off x="7127049" y="3079508"/>
            <a:ext cx="424220" cy="424220"/>
          </a:xfrm>
          <a:prstGeom prst="roundRect">
            <a:avLst>
              <a:gd name="adj" fmla="val 66674"/>
            </a:avLst>
          </a:prstGeom>
          <a:solidFill>
            <a:srgbClr val="0A081B"/>
          </a:solidFill>
          <a:ln w="22860">
            <a:solidFill>
              <a:srgbClr val="37A7E7"/>
            </a:solidFill>
            <a:prstDash val="solid"/>
          </a:ln>
        </p:spPr>
        <p:txBody>
          <a:bodyPr/>
          <a:lstStyle/>
          <a:p>
            <a:endParaRPr lang="en-US"/>
          </a:p>
        </p:txBody>
      </p:sp>
      <p:sp>
        <p:nvSpPr>
          <p:cNvPr id="16" name="Text 14"/>
          <p:cNvSpPr/>
          <p:nvPr/>
        </p:nvSpPr>
        <p:spPr>
          <a:xfrm>
            <a:off x="7241619" y="3211555"/>
            <a:ext cx="147161" cy="251460"/>
          </a:xfrm>
          <a:prstGeom prst="rect">
            <a:avLst/>
          </a:prstGeom>
          <a:noFill/>
          <a:ln/>
        </p:spPr>
        <p:txBody>
          <a:bodyPr wrap="none" lIns="0" tIns="0" rIns="0" bIns="0" rtlCol="0" anchor="t"/>
          <a:lstStyle/>
          <a:p>
            <a:pPr marL="0" indent="0" algn="ctr">
              <a:lnSpc>
                <a:spcPts val="1950"/>
              </a:lnSpc>
              <a:buNone/>
            </a:pPr>
            <a:r>
              <a:rPr lang="en-US" sz="1950" b="1">
                <a:solidFill>
                  <a:srgbClr val="E0E4E6"/>
                </a:solidFill>
                <a:latin typeface="Spline Sans Bold" pitchFamily="34" charset="0"/>
                <a:ea typeface="Spline Sans Bold" pitchFamily="34" charset="-122"/>
                <a:cs typeface="Spline Sans Bold" pitchFamily="34" charset="-120"/>
              </a:rPr>
              <a:t>3</a:t>
            </a:r>
            <a:endParaRPr lang="en-US" sz="1950"/>
          </a:p>
        </p:txBody>
      </p:sp>
      <p:sp>
        <p:nvSpPr>
          <p:cNvPr id="17" name="Text 15"/>
          <p:cNvSpPr/>
          <p:nvPr/>
        </p:nvSpPr>
        <p:spPr>
          <a:xfrm>
            <a:off x="3665103" y="3328210"/>
            <a:ext cx="2753797" cy="261937"/>
          </a:xfrm>
          <a:prstGeom prst="rect">
            <a:avLst/>
          </a:prstGeom>
          <a:noFill/>
          <a:ln/>
        </p:spPr>
        <p:txBody>
          <a:bodyPr wrap="none" lIns="0" tIns="0" rIns="0" bIns="0" rtlCol="0" anchor="t"/>
          <a:lstStyle/>
          <a:p>
            <a:pPr marL="0" indent="0" algn="r">
              <a:lnSpc>
                <a:spcPts val="2050"/>
              </a:lnSpc>
              <a:buNone/>
            </a:pPr>
            <a:r>
              <a:rPr lang="en-US" sz="2800" b="1" i="1" u="sng">
                <a:solidFill>
                  <a:srgbClr val="E0E4E6"/>
                </a:solidFill>
                <a:latin typeface="Spline Sans Bold" pitchFamily="34" charset="0"/>
                <a:ea typeface="Spline Sans Bold" pitchFamily="34" charset="-122"/>
                <a:cs typeface="Spline Sans Bold" pitchFamily="34" charset="-120"/>
              </a:rPr>
              <a:t>Adding Requirement Entries</a:t>
            </a:r>
            <a:endParaRPr lang="en-US" sz="2800" i="1" u="sng"/>
          </a:p>
        </p:txBody>
      </p:sp>
      <p:sp>
        <p:nvSpPr>
          <p:cNvPr id="18" name="Text 16"/>
          <p:cNvSpPr/>
          <p:nvPr/>
        </p:nvSpPr>
        <p:spPr>
          <a:xfrm>
            <a:off x="607732" y="3722851"/>
            <a:ext cx="5618202" cy="905113"/>
          </a:xfrm>
          <a:prstGeom prst="rect">
            <a:avLst/>
          </a:prstGeom>
          <a:noFill/>
          <a:ln/>
        </p:spPr>
        <p:txBody>
          <a:bodyPr wrap="square" lIns="0" tIns="0" rIns="0" bIns="0" rtlCol="0" anchor="t"/>
          <a:lstStyle/>
          <a:p>
            <a:pPr marL="0" indent="0" algn="r">
              <a:lnSpc>
                <a:spcPts val="2350"/>
              </a:lnSpc>
              <a:buNone/>
            </a:pPr>
            <a:r>
              <a:rPr lang="en-US" sz="2400">
                <a:solidFill>
                  <a:schemeClr val="bg2"/>
                </a:solidFill>
                <a:latin typeface="Barlow" pitchFamily="34" charset="0"/>
                <a:ea typeface="Barlow" pitchFamily="34" charset="-122"/>
                <a:cs typeface="Barlow" pitchFamily="34" charset="-120"/>
              </a:rPr>
              <a:t>Navigate to the "Issues" section and add new issues or requirements. Fill out details such as title, description, priority, and responsible team members</a:t>
            </a:r>
            <a:r>
              <a:rPr lang="en-US" sz="1450">
                <a:solidFill>
                  <a:srgbClr val="E0E4E6"/>
                </a:solidFill>
                <a:latin typeface="Barlow" pitchFamily="34" charset="0"/>
                <a:ea typeface="Barlow" pitchFamily="34" charset="-122"/>
                <a:cs typeface="Barlow" pitchFamily="34" charset="-120"/>
              </a:rPr>
              <a:t>.</a:t>
            </a:r>
            <a:endParaRPr lang="en-US" sz="1450"/>
          </a:p>
        </p:txBody>
      </p:sp>
      <p:sp>
        <p:nvSpPr>
          <p:cNvPr id="19" name="Shape 17"/>
          <p:cNvSpPr/>
          <p:nvPr/>
        </p:nvSpPr>
        <p:spPr>
          <a:xfrm>
            <a:off x="7385726" y="3765132"/>
            <a:ext cx="659963" cy="22860"/>
          </a:xfrm>
          <a:prstGeom prst="roundRect">
            <a:avLst>
              <a:gd name="adj" fmla="val 1237296"/>
            </a:avLst>
          </a:prstGeom>
          <a:solidFill>
            <a:srgbClr val="091231"/>
          </a:solidFill>
          <a:ln/>
        </p:spPr>
        <p:txBody>
          <a:bodyPr/>
          <a:lstStyle/>
          <a:p>
            <a:endParaRPr lang="en-US"/>
          </a:p>
        </p:txBody>
      </p:sp>
      <p:sp>
        <p:nvSpPr>
          <p:cNvPr id="20" name="Shape 18"/>
          <p:cNvSpPr/>
          <p:nvPr/>
        </p:nvSpPr>
        <p:spPr>
          <a:xfrm>
            <a:off x="7103090" y="3578278"/>
            <a:ext cx="424220" cy="424220"/>
          </a:xfrm>
          <a:prstGeom prst="roundRect">
            <a:avLst>
              <a:gd name="adj" fmla="val 66674"/>
            </a:avLst>
          </a:prstGeom>
          <a:solidFill>
            <a:srgbClr val="0A081B"/>
          </a:solidFill>
          <a:ln w="22860">
            <a:solidFill>
              <a:srgbClr val="091231"/>
            </a:solidFill>
            <a:prstDash val="solid"/>
          </a:ln>
        </p:spPr>
        <p:txBody>
          <a:bodyPr/>
          <a:lstStyle/>
          <a:p>
            <a:endParaRPr lang="en-US"/>
          </a:p>
        </p:txBody>
      </p:sp>
      <p:sp>
        <p:nvSpPr>
          <p:cNvPr id="21" name="Text 19"/>
          <p:cNvSpPr/>
          <p:nvPr/>
        </p:nvSpPr>
        <p:spPr>
          <a:xfrm>
            <a:off x="7232749" y="3679127"/>
            <a:ext cx="142042" cy="251460"/>
          </a:xfrm>
          <a:prstGeom prst="rect">
            <a:avLst/>
          </a:prstGeom>
          <a:noFill/>
          <a:ln/>
        </p:spPr>
        <p:txBody>
          <a:bodyPr wrap="none" lIns="0" tIns="0" rIns="0" bIns="0" rtlCol="0" anchor="t"/>
          <a:lstStyle/>
          <a:p>
            <a:pPr marL="0" indent="0" algn="ctr">
              <a:lnSpc>
                <a:spcPts val="1950"/>
              </a:lnSpc>
              <a:buNone/>
            </a:pPr>
            <a:r>
              <a:rPr lang="en-US" sz="1950" b="1">
                <a:solidFill>
                  <a:srgbClr val="E0E4E6"/>
                </a:solidFill>
                <a:latin typeface="Spline Sans Bold" pitchFamily="34" charset="0"/>
                <a:ea typeface="Spline Sans Bold" pitchFamily="34" charset="-122"/>
                <a:cs typeface="Spline Sans Bold" pitchFamily="34" charset="-120"/>
              </a:rPr>
              <a:t>4</a:t>
            </a:r>
            <a:endParaRPr lang="en-US" sz="1950"/>
          </a:p>
        </p:txBody>
      </p:sp>
      <p:sp>
        <p:nvSpPr>
          <p:cNvPr id="22" name="Text 20"/>
          <p:cNvSpPr/>
          <p:nvPr/>
        </p:nvSpPr>
        <p:spPr>
          <a:xfrm>
            <a:off x="8111768" y="3626320"/>
            <a:ext cx="2303026" cy="261937"/>
          </a:xfrm>
          <a:prstGeom prst="rect">
            <a:avLst/>
          </a:prstGeom>
          <a:noFill/>
          <a:ln/>
        </p:spPr>
        <p:txBody>
          <a:bodyPr wrap="none" lIns="0" tIns="0" rIns="0" bIns="0" rtlCol="0" anchor="t"/>
          <a:lstStyle/>
          <a:p>
            <a:pPr marL="0" indent="0" algn="l">
              <a:lnSpc>
                <a:spcPts val="2050"/>
              </a:lnSpc>
              <a:buNone/>
            </a:pPr>
            <a:r>
              <a:rPr lang="en-US" sz="3000" b="1" i="1" u="sng">
                <a:solidFill>
                  <a:srgbClr val="E0E4E6"/>
                </a:solidFill>
                <a:latin typeface="Spline Sans Bold" pitchFamily="34" charset="0"/>
                <a:ea typeface="Spline Sans Bold" pitchFamily="34" charset="-122"/>
                <a:cs typeface="Spline Sans Bold" pitchFamily="34" charset="-120"/>
              </a:rPr>
              <a:t>Configuring Workflows</a:t>
            </a:r>
            <a:endParaRPr lang="en-US" sz="3000" i="1" u="sng"/>
          </a:p>
        </p:txBody>
      </p:sp>
      <p:sp>
        <p:nvSpPr>
          <p:cNvPr id="23" name="Text 21"/>
          <p:cNvSpPr/>
          <p:nvPr/>
        </p:nvSpPr>
        <p:spPr>
          <a:xfrm>
            <a:off x="8111768" y="3947056"/>
            <a:ext cx="5618202" cy="905113"/>
          </a:xfrm>
          <a:prstGeom prst="rect">
            <a:avLst/>
          </a:prstGeom>
          <a:noFill/>
          <a:ln/>
        </p:spPr>
        <p:txBody>
          <a:bodyPr wrap="square" lIns="0" tIns="0" rIns="0" bIns="0" rtlCol="0" anchor="t"/>
          <a:lstStyle/>
          <a:p>
            <a:pPr marL="0" indent="0" algn="ctr">
              <a:lnSpc>
                <a:spcPts val="2350"/>
              </a:lnSpc>
              <a:buNone/>
            </a:pPr>
            <a:r>
              <a:rPr lang="en-US" sz="2400">
                <a:solidFill>
                  <a:srgbClr val="E0E4E6"/>
                </a:solidFill>
                <a:latin typeface="Barlow" pitchFamily="34" charset="0"/>
                <a:ea typeface="Barlow" pitchFamily="34" charset="-122"/>
                <a:cs typeface="Barlow" pitchFamily="34" charset="-120"/>
              </a:rPr>
              <a:t>Customize workflows based on your project's requirements, defining stages like "New," "In Progress," and "Complete" to manage the flow of tasks and requirements.</a:t>
            </a:r>
            <a:endParaRPr lang="en-US" sz="2400"/>
          </a:p>
        </p:txBody>
      </p:sp>
      <p:sp>
        <p:nvSpPr>
          <p:cNvPr id="24" name="Shape 22"/>
          <p:cNvSpPr/>
          <p:nvPr/>
        </p:nvSpPr>
        <p:spPr>
          <a:xfrm flipV="1">
            <a:off x="6348204" y="5217916"/>
            <a:ext cx="659963" cy="45719"/>
          </a:xfrm>
          <a:prstGeom prst="roundRect">
            <a:avLst>
              <a:gd name="adj" fmla="val 1237296"/>
            </a:avLst>
          </a:prstGeom>
          <a:solidFill>
            <a:srgbClr val="16FFBB"/>
          </a:solidFill>
          <a:ln/>
        </p:spPr>
        <p:txBody>
          <a:bodyPr/>
          <a:lstStyle/>
          <a:p>
            <a:endParaRPr lang="en-US"/>
          </a:p>
        </p:txBody>
      </p:sp>
      <p:sp>
        <p:nvSpPr>
          <p:cNvPr id="25" name="Shape 23"/>
          <p:cNvSpPr/>
          <p:nvPr/>
        </p:nvSpPr>
        <p:spPr>
          <a:xfrm>
            <a:off x="7043678" y="4961488"/>
            <a:ext cx="424220" cy="424220"/>
          </a:xfrm>
          <a:prstGeom prst="roundRect">
            <a:avLst>
              <a:gd name="adj" fmla="val 66674"/>
            </a:avLst>
          </a:prstGeom>
          <a:solidFill>
            <a:srgbClr val="0A081B"/>
          </a:solidFill>
          <a:ln w="22860">
            <a:solidFill>
              <a:srgbClr val="16FFBB"/>
            </a:solidFill>
            <a:prstDash val="solid"/>
          </a:ln>
        </p:spPr>
        <p:txBody>
          <a:bodyPr/>
          <a:lstStyle/>
          <a:p>
            <a:endParaRPr lang="en-US"/>
          </a:p>
        </p:txBody>
      </p:sp>
      <p:sp>
        <p:nvSpPr>
          <p:cNvPr id="26" name="Text 24"/>
          <p:cNvSpPr/>
          <p:nvPr/>
        </p:nvSpPr>
        <p:spPr>
          <a:xfrm>
            <a:off x="7183437" y="5095475"/>
            <a:ext cx="141684" cy="251460"/>
          </a:xfrm>
          <a:prstGeom prst="rect">
            <a:avLst/>
          </a:prstGeom>
          <a:noFill/>
          <a:ln/>
        </p:spPr>
        <p:txBody>
          <a:bodyPr wrap="none" lIns="0" tIns="0" rIns="0" bIns="0" rtlCol="0" anchor="t"/>
          <a:lstStyle/>
          <a:p>
            <a:pPr marL="0" indent="0" algn="ctr">
              <a:lnSpc>
                <a:spcPts val="1950"/>
              </a:lnSpc>
              <a:buNone/>
            </a:pPr>
            <a:r>
              <a:rPr lang="en-US" sz="1950" b="1">
                <a:solidFill>
                  <a:srgbClr val="E0E4E6"/>
                </a:solidFill>
                <a:latin typeface="Spline Sans Bold" pitchFamily="34" charset="0"/>
                <a:ea typeface="Spline Sans Bold" pitchFamily="34" charset="-122"/>
                <a:cs typeface="Spline Sans Bold" pitchFamily="34" charset="-120"/>
              </a:rPr>
              <a:t>5</a:t>
            </a:r>
            <a:endParaRPr lang="en-US" sz="1950"/>
          </a:p>
        </p:txBody>
      </p:sp>
      <p:sp>
        <p:nvSpPr>
          <p:cNvPr id="27" name="Text 25"/>
          <p:cNvSpPr/>
          <p:nvPr/>
        </p:nvSpPr>
        <p:spPr>
          <a:xfrm>
            <a:off x="4183023" y="5162168"/>
            <a:ext cx="2095143" cy="261937"/>
          </a:xfrm>
          <a:prstGeom prst="rect">
            <a:avLst/>
          </a:prstGeom>
          <a:noFill/>
          <a:ln/>
        </p:spPr>
        <p:txBody>
          <a:bodyPr wrap="none" lIns="0" tIns="0" rIns="0" bIns="0" rtlCol="0" anchor="t"/>
          <a:lstStyle/>
          <a:p>
            <a:pPr marL="0" indent="0" algn="r">
              <a:lnSpc>
                <a:spcPts val="2050"/>
              </a:lnSpc>
              <a:buNone/>
            </a:pPr>
            <a:r>
              <a:rPr lang="en-US" sz="3000" b="1" i="1" u="sng">
                <a:solidFill>
                  <a:srgbClr val="E0E4E6"/>
                </a:solidFill>
                <a:latin typeface="Spline Sans Bold" pitchFamily="34" charset="0"/>
                <a:ea typeface="Spline Sans Bold" pitchFamily="34" charset="-122"/>
                <a:cs typeface="Spline Sans Bold" pitchFamily="34" charset="-120"/>
              </a:rPr>
              <a:t>Generating Reports</a:t>
            </a:r>
            <a:endParaRPr lang="en-US" sz="3000" i="1" u="sng"/>
          </a:p>
        </p:txBody>
      </p:sp>
      <p:sp>
        <p:nvSpPr>
          <p:cNvPr id="28" name="Text 26"/>
          <p:cNvSpPr/>
          <p:nvPr/>
        </p:nvSpPr>
        <p:spPr>
          <a:xfrm>
            <a:off x="668632" y="5505752"/>
            <a:ext cx="5618202" cy="905113"/>
          </a:xfrm>
          <a:prstGeom prst="rect">
            <a:avLst/>
          </a:prstGeom>
          <a:noFill/>
          <a:ln/>
        </p:spPr>
        <p:txBody>
          <a:bodyPr wrap="square" lIns="0" tIns="0" rIns="0" bIns="0" rtlCol="0" anchor="t"/>
          <a:lstStyle/>
          <a:p>
            <a:pPr marL="0" indent="0" algn="r">
              <a:lnSpc>
                <a:spcPts val="2350"/>
              </a:lnSpc>
              <a:buNone/>
            </a:pPr>
            <a:r>
              <a:rPr lang="en-US" sz="2400">
                <a:solidFill>
                  <a:srgbClr val="E0E4E6"/>
                </a:solidFill>
                <a:latin typeface="Barlow" pitchFamily="34" charset="0"/>
                <a:ea typeface="Barlow" pitchFamily="34" charset="-122"/>
                <a:cs typeface="Barlow" pitchFamily="34" charset="-120"/>
              </a:rPr>
              <a:t>Use the comprehensive reporting and dashboard features to track progress, identify bottlenecks, and analyze data. Export results in PDF, Excel, or other formats for sharing and analysis</a:t>
            </a:r>
            <a:r>
              <a:rPr lang="en-US" sz="1450">
                <a:solidFill>
                  <a:srgbClr val="E0E4E6"/>
                </a:solidFill>
                <a:latin typeface="Barlow" pitchFamily="34" charset="0"/>
                <a:ea typeface="Barlow" pitchFamily="34" charset="-122"/>
                <a:cs typeface="Barlow" pitchFamily="34" charset="-120"/>
              </a:rPr>
              <a:t>.</a:t>
            </a:r>
            <a:endParaRPr lang="en-US" sz="1450"/>
          </a:p>
        </p:txBody>
      </p:sp>
      <p:sp>
        <p:nvSpPr>
          <p:cNvPr id="29" name="Shape 27"/>
          <p:cNvSpPr/>
          <p:nvPr/>
        </p:nvSpPr>
        <p:spPr>
          <a:xfrm flipV="1">
            <a:off x="7444950" y="5648445"/>
            <a:ext cx="659963" cy="45719"/>
          </a:xfrm>
          <a:prstGeom prst="roundRect">
            <a:avLst>
              <a:gd name="adj" fmla="val 1237296"/>
            </a:avLst>
          </a:prstGeom>
          <a:solidFill>
            <a:srgbClr val="29DDDA"/>
          </a:solidFill>
          <a:ln/>
        </p:spPr>
        <p:txBody>
          <a:bodyPr/>
          <a:lstStyle/>
          <a:p>
            <a:endParaRPr lang="en-US"/>
          </a:p>
        </p:txBody>
      </p:sp>
      <p:sp>
        <p:nvSpPr>
          <p:cNvPr id="30" name="Shape 28"/>
          <p:cNvSpPr/>
          <p:nvPr/>
        </p:nvSpPr>
        <p:spPr>
          <a:xfrm>
            <a:off x="7055108" y="5482054"/>
            <a:ext cx="424220" cy="424220"/>
          </a:xfrm>
          <a:prstGeom prst="roundRect">
            <a:avLst>
              <a:gd name="adj" fmla="val 66674"/>
            </a:avLst>
          </a:prstGeom>
          <a:solidFill>
            <a:srgbClr val="0A081B"/>
          </a:solidFill>
          <a:ln w="22860">
            <a:solidFill>
              <a:srgbClr val="29DDDA"/>
            </a:solidFill>
            <a:prstDash val="solid"/>
          </a:ln>
        </p:spPr>
        <p:txBody>
          <a:bodyPr/>
          <a:lstStyle/>
          <a:p>
            <a:endParaRPr lang="en-US"/>
          </a:p>
        </p:txBody>
      </p:sp>
      <p:sp>
        <p:nvSpPr>
          <p:cNvPr id="31" name="Text 29"/>
          <p:cNvSpPr/>
          <p:nvPr/>
        </p:nvSpPr>
        <p:spPr>
          <a:xfrm>
            <a:off x="7183437" y="5595364"/>
            <a:ext cx="145375" cy="251460"/>
          </a:xfrm>
          <a:prstGeom prst="rect">
            <a:avLst/>
          </a:prstGeom>
          <a:noFill/>
          <a:ln/>
        </p:spPr>
        <p:txBody>
          <a:bodyPr wrap="none" lIns="0" tIns="0" rIns="0" bIns="0" rtlCol="0" anchor="t"/>
          <a:lstStyle/>
          <a:p>
            <a:pPr marL="0" indent="0" algn="ctr">
              <a:lnSpc>
                <a:spcPts val="1950"/>
              </a:lnSpc>
              <a:buNone/>
            </a:pPr>
            <a:r>
              <a:rPr lang="en-US" sz="1950" b="1">
                <a:solidFill>
                  <a:srgbClr val="E0E4E6"/>
                </a:solidFill>
                <a:latin typeface="Spline Sans Bold" pitchFamily="34" charset="0"/>
                <a:ea typeface="Spline Sans Bold" pitchFamily="34" charset="-122"/>
                <a:cs typeface="Spline Sans Bold" pitchFamily="34" charset="-120"/>
              </a:rPr>
              <a:t>6</a:t>
            </a:r>
            <a:endParaRPr lang="en-US" sz="1950"/>
          </a:p>
        </p:txBody>
      </p:sp>
      <p:sp>
        <p:nvSpPr>
          <p:cNvPr id="32" name="Text 30"/>
          <p:cNvSpPr/>
          <p:nvPr/>
        </p:nvSpPr>
        <p:spPr>
          <a:xfrm>
            <a:off x="8111768" y="5578673"/>
            <a:ext cx="3377565" cy="261937"/>
          </a:xfrm>
          <a:prstGeom prst="rect">
            <a:avLst/>
          </a:prstGeom>
          <a:noFill/>
          <a:ln/>
        </p:spPr>
        <p:txBody>
          <a:bodyPr wrap="none" lIns="0" tIns="0" rIns="0" bIns="0" rtlCol="0" anchor="t"/>
          <a:lstStyle/>
          <a:p>
            <a:pPr marL="0" indent="0" algn="l">
              <a:lnSpc>
                <a:spcPts val="2050"/>
              </a:lnSpc>
              <a:buNone/>
            </a:pPr>
            <a:r>
              <a:rPr lang="en-US" sz="3000" b="1" i="1" u="sng">
                <a:solidFill>
                  <a:srgbClr val="E0E4E6"/>
                </a:solidFill>
                <a:latin typeface="Spline Sans Bold" pitchFamily="34" charset="0"/>
                <a:ea typeface="Spline Sans Bold" pitchFamily="34" charset="-122"/>
                <a:cs typeface="Spline Sans Bold" pitchFamily="34" charset="-120"/>
              </a:rPr>
              <a:t>Collaboration and Communication</a:t>
            </a:r>
            <a:endParaRPr lang="en-US" sz="3000" i="1" u="sng"/>
          </a:p>
        </p:txBody>
      </p:sp>
      <p:sp>
        <p:nvSpPr>
          <p:cNvPr id="33" name="Text 31"/>
          <p:cNvSpPr/>
          <p:nvPr/>
        </p:nvSpPr>
        <p:spPr>
          <a:xfrm>
            <a:off x="8318904" y="5921727"/>
            <a:ext cx="5618202" cy="905113"/>
          </a:xfrm>
          <a:prstGeom prst="rect">
            <a:avLst/>
          </a:prstGeom>
          <a:noFill/>
          <a:ln/>
        </p:spPr>
        <p:txBody>
          <a:bodyPr wrap="square" lIns="0" tIns="0" rIns="0" bIns="0" rtlCol="0" anchor="t"/>
          <a:lstStyle/>
          <a:p>
            <a:pPr marL="0" indent="0" algn="ctr">
              <a:lnSpc>
                <a:spcPts val="2350"/>
              </a:lnSpc>
              <a:buNone/>
            </a:pPr>
            <a:r>
              <a:rPr lang="en-US" sz="2400">
                <a:solidFill>
                  <a:srgbClr val="E0E4E6"/>
                </a:solidFill>
                <a:latin typeface="Barlow" pitchFamily="34" charset="0"/>
                <a:ea typeface="Barlow" pitchFamily="34" charset="-122"/>
                <a:cs typeface="Barlow" pitchFamily="34" charset="-120"/>
              </a:rPr>
              <a:t>Add team members to collaborate on requirements, utilize notifications and alerts to stay updated on changes, and leverage RMTrack’s communication tools for efficient collaboration.</a:t>
            </a:r>
            <a:endParaRPr lang="en-US" sz="2400"/>
          </a:p>
        </p:txBody>
      </p:sp>
      <p:sp>
        <p:nvSpPr>
          <p:cNvPr id="34" name="Shape 28">
            <a:extLst>
              <a:ext uri="{FF2B5EF4-FFF2-40B4-BE49-F238E27FC236}">
                <a16:creationId xmlns:a16="http://schemas.microsoft.com/office/drawing/2014/main" id="{A46FD43D-C39F-C550-FA28-AC9F6BBDD8AB}"/>
              </a:ext>
            </a:extLst>
          </p:cNvPr>
          <p:cNvSpPr/>
          <p:nvPr/>
        </p:nvSpPr>
        <p:spPr>
          <a:xfrm>
            <a:off x="7091660" y="6853376"/>
            <a:ext cx="424220" cy="424220"/>
          </a:xfrm>
          <a:prstGeom prst="roundRect">
            <a:avLst>
              <a:gd name="adj" fmla="val 66674"/>
            </a:avLst>
          </a:prstGeom>
          <a:solidFill>
            <a:srgbClr val="0A081B"/>
          </a:solidFill>
          <a:ln w="22860">
            <a:solidFill>
              <a:srgbClr val="C00000"/>
            </a:solidFill>
            <a:prstDash val="solid"/>
          </a:ln>
        </p:spPr>
        <p:txBody>
          <a:bodyPr/>
          <a:lstStyle/>
          <a:p>
            <a:endParaRPr lang="en-US"/>
          </a:p>
        </p:txBody>
      </p:sp>
      <p:pic>
        <p:nvPicPr>
          <p:cNvPr id="35" name="Picture 34">
            <a:extLst>
              <a:ext uri="{FF2B5EF4-FFF2-40B4-BE49-F238E27FC236}">
                <a16:creationId xmlns:a16="http://schemas.microsoft.com/office/drawing/2014/main" id="{EEC9BEEC-01E6-56C8-8468-D6FE2824CA62}"/>
              </a:ext>
            </a:extLst>
          </p:cNvPr>
          <p:cNvPicPr>
            <a:picLocks noChangeAspect="1"/>
          </p:cNvPicPr>
          <p:nvPr/>
        </p:nvPicPr>
        <p:blipFill>
          <a:blip r:embed="rId4">
            <a:duotone>
              <a:prstClr val="black"/>
              <a:srgbClr val="C00000">
                <a:tint val="45000"/>
                <a:satMod val="400000"/>
              </a:srgbClr>
            </a:duotone>
          </a:blip>
          <a:stretch>
            <a:fillRect/>
          </a:stretch>
        </p:blipFill>
        <p:spPr>
          <a:xfrm flipV="1">
            <a:off x="6427138" y="7178121"/>
            <a:ext cx="664522" cy="45719"/>
          </a:xfrm>
          <a:prstGeom prst="rect">
            <a:avLst/>
          </a:prstGeom>
          <a:ln>
            <a:solidFill>
              <a:srgbClr val="C00000"/>
            </a:solidFill>
          </a:ln>
        </p:spPr>
      </p:pic>
      <p:sp>
        <p:nvSpPr>
          <p:cNvPr id="39" name="Rectangle 38">
            <a:extLst>
              <a:ext uri="{FF2B5EF4-FFF2-40B4-BE49-F238E27FC236}">
                <a16:creationId xmlns:a16="http://schemas.microsoft.com/office/drawing/2014/main" id="{7DA15F35-B55F-E29C-4FB5-9FFB95745542}"/>
              </a:ext>
            </a:extLst>
          </p:cNvPr>
          <p:cNvSpPr/>
          <p:nvPr/>
        </p:nvSpPr>
        <p:spPr>
          <a:xfrm>
            <a:off x="5338685" y="7110838"/>
            <a:ext cx="1249145" cy="1345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i="1" u="sng"/>
              <a:t>LINKS</a:t>
            </a:r>
          </a:p>
        </p:txBody>
      </p:sp>
      <p:sp>
        <p:nvSpPr>
          <p:cNvPr id="40" name="Rectangle 39">
            <a:extLst>
              <a:ext uri="{FF2B5EF4-FFF2-40B4-BE49-F238E27FC236}">
                <a16:creationId xmlns:a16="http://schemas.microsoft.com/office/drawing/2014/main" id="{5B27B591-2A25-0ACB-7170-D5B86C4C4746}"/>
              </a:ext>
            </a:extLst>
          </p:cNvPr>
          <p:cNvSpPr/>
          <p:nvPr/>
        </p:nvSpPr>
        <p:spPr>
          <a:xfrm>
            <a:off x="2234317" y="7178120"/>
            <a:ext cx="4443868" cy="79113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hlinkClick r:id="rId5"/>
              </a:rPr>
              <a:t>https://www.youtube.com/@rmtrack702</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864037" y="1872258"/>
            <a:ext cx="6679525" cy="685800"/>
          </a:xfrm>
          <a:prstGeom prst="rect">
            <a:avLst/>
          </a:prstGeom>
          <a:noFill/>
          <a:ln/>
        </p:spPr>
        <p:txBody>
          <a:bodyPr wrap="none" lIns="0" tIns="0" rIns="0" bIns="0" rtlCol="0" anchor="t"/>
          <a:lstStyle/>
          <a:p>
            <a:pPr marL="571500" indent="-571500">
              <a:lnSpc>
                <a:spcPts val="5400"/>
              </a:lnSpc>
              <a:buFont typeface="Wingdings" panose="05000000000000000000" pitchFamily="2" charset="2"/>
              <a:buChar char="v"/>
            </a:pPr>
            <a:r>
              <a:rPr lang="en-US" sz="4300" b="1">
                <a:solidFill>
                  <a:srgbClr val="F0FCFF"/>
                </a:solidFill>
                <a:latin typeface="Spline Sans Bold" pitchFamily="34" charset="0"/>
                <a:ea typeface="Spline Sans Bold" pitchFamily="34" charset="-122"/>
                <a:cs typeface="Spline Sans Bold" pitchFamily="34" charset="-120"/>
              </a:rPr>
              <a:t>Pros and Cons of RMTrack</a:t>
            </a:r>
            <a:endParaRPr lang="en-US" sz="4300"/>
          </a:p>
        </p:txBody>
      </p:sp>
      <p:sp>
        <p:nvSpPr>
          <p:cNvPr id="3" name="Text 1"/>
          <p:cNvSpPr/>
          <p:nvPr/>
        </p:nvSpPr>
        <p:spPr>
          <a:xfrm>
            <a:off x="864037" y="3175159"/>
            <a:ext cx="2743200" cy="342900"/>
          </a:xfrm>
          <a:prstGeom prst="rect">
            <a:avLst/>
          </a:prstGeom>
          <a:noFill/>
          <a:ln/>
        </p:spPr>
        <p:txBody>
          <a:bodyPr wrap="none" lIns="0" tIns="0" rIns="0" bIns="0" rtlCol="0" anchor="t"/>
          <a:lstStyle/>
          <a:p>
            <a:pPr marL="457200" indent="-457200">
              <a:lnSpc>
                <a:spcPts val="2700"/>
              </a:lnSpc>
              <a:buFontTx/>
              <a:buChar char="۞"/>
            </a:pPr>
            <a:r>
              <a:rPr lang="en-US" sz="3000" b="1">
                <a:solidFill>
                  <a:srgbClr val="F0FCFF"/>
                </a:solidFill>
                <a:latin typeface="Spline Sans Bold" pitchFamily="34" charset="0"/>
                <a:ea typeface="Spline Sans Bold" pitchFamily="34" charset="-122"/>
                <a:cs typeface="Spline Sans Bold" pitchFamily="34" charset="-120"/>
              </a:rPr>
              <a:t>Pros(Advantages)</a:t>
            </a:r>
            <a:endParaRPr lang="en-US" sz="3000"/>
          </a:p>
        </p:txBody>
      </p:sp>
      <p:sp>
        <p:nvSpPr>
          <p:cNvPr id="4" name="Text 2"/>
          <p:cNvSpPr/>
          <p:nvPr/>
        </p:nvSpPr>
        <p:spPr>
          <a:xfrm>
            <a:off x="864037" y="3764875"/>
            <a:ext cx="6150054" cy="2370296"/>
          </a:xfrm>
          <a:prstGeom prst="rect">
            <a:avLst/>
          </a:prstGeom>
          <a:noFill/>
          <a:ln/>
        </p:spPr>
        <p:txBody>
          <a:bodyPr wrap="square" lIns="0" tIns="0" rIns="0" bIns="0" rtlCol="0" anchor="t"/>
          <a:lstStyle/>
          <a:p>
            <a:pPr marL="457200" indent="-457200">
              <a:lnSpc>
                <a:spcPts val="3100"/>
              </a:lnSpc>
              <a:buFont typeface="+mj-lt"/>
              <a:buAutoNum type="arabicPeriod"/>
            </a:pPr>
            <a:r>
              <a:rPr lang="en-US" sz="2400">
                <a:solidFill>
                  <a:srgbClr val="E0E4E6"/>
                </a:solidFill>
                <a:latin typeface="Barlow" pitchFamily="34" charset="0"/>
                <a:ea typeface="Barlow" pitchFamily="34" charset="-122"/>
                <a:cs typeface="Barlow" pitchFamily="34" charset="-120"/>
              </a:rPr>
              <a:t>RMTrack is user-friendly</a:t>
            </a:r>
          </a:p>
          <a:p>
            <a:pPr marL="457200" indent="-457200">
              <a:lnSpc>
                <a:spcPts val="3100"/>
              </a:lnSpc>
              <a:buFont typeface="+mj-lt"/>
              <a:buAutoNum type="arabicPeriod"/>
            </a:pPr>
            <a:r>
              <a:rPr lang="en-US" sz="2400">
                <a:solidFill>
                  <a:srgbClr val="E0E4E6"/>
                </a:solidFill>
                <a:latin typeface="Barlow" pitchFamily="34" charset="0"/>
                <a:ea typeface="Barlow" pitchFamily="34" charset="-122"/>
                <a:cs typeface="Barlow" pitchFamily="34" charset="-120"/>
              </a:rPr>
              <a:t>Offering an intuitive interface that simplifies managing requirements.</a:t>
            </a:r>
          </a:p>
          <a:p>
            <a:pPr marL="457200" indent="-457200">
              <a:lnSpc>
                <a:spcPts val="3100"/>
              </a:lnSpc>
              <a:buFont typeface="+mj-lt"/>
              <a:buAutoNum type="arabicPeriod"/>
            </a:pPr>
            <a:r>
              <a:rPr lang="en-US" sz="2400">
                <a:solidFill>
                  <a:srgbClr val="E0E4E6"/>
                </a:solidFill>
                <a:latin typeface="Barlow" pitchFamily="34" charset="0"/>
                <a:ea typeface="Barlow" pitchFamily="34" charset="-122"/>
                <a:cs typeface="Barlow" pitchFamily="34" charset="-120"/>
              </a:rPr>
              <a:t>It is highly customizable.</a:t>
            </a:r>
          </a:p>
          <a:p>
            <a:pPr marL="457200" indent="-457200">
              <a:lnSpc>
                <a:spcPts val="3100"/>
              </a:lnSpc>
              <a:buFont typeface="+mj-lt"/>
              <a:buAutoNum type="arabicPeriod"/>
            </a:pPr>
            <a:r>
              <a:rPr lang="en-US" sz="2400">
                <a:solidFill>
                  <a:srgbClr val="E0E4E6"/>
                </a:solidFill>
                <a:latin typeface="Barlow" pitchFamily="34" charset="0"/>
                <a:ea typeface="Barlow" pitchFamily="34" charset="-122"/>
                <a:cs typeface="Barlow" pitchFamily="34" charset="-120"/>
              </a:rPr>
              <a:t>Allows teams to tailor workflows to their specific needs.</a:t>
            </a:r>
          </a:p>
          <a:p>
            <a:pPr marL="457200" indent="-457200">
              <a:lnSpc>
                <a:spcPts val="3100"/>
              </a:lnSpc>
              <a:buFont typeface="+mj-lt"/>
              <a:buAutoNum type="arabicPeriod"/>
            </a:pPr>
            <a:r>
              <a:rPr lang="en-US" sz="2400">
                <a:solidFill>
                  <a:srgbClr val="E0E4E6"/>
                </a:solidFill>
                <a:latin typeface="Barlow" pitchFamily="34" charset="0"/>
                <a:ea typeface="Barlow" pitchFamily="34" charset="-122"/>
                <a:cs typeface="Barlow" pitchFamily="34" charset="-120"/>
              </a:rPr>
              <a:t>Additionally, its robust reporting and dashboard features provide valuable insights into project progress and potential issues.</a:t>
            </a:r>
            <a:endParaRPr lang="en-US" sz="2400"/>
          </a:p>
        </p:txBody>
      </p:sp>
      <p:sp>
        <p:nvSpPr>
          <p:cNvPr id="5" name="Text 3"/>
          <p:cNvSpPr/>
          <p:nvPr/>
        </p:nvSpPr>
        <p:spPr>
          <a:xfrm>
            <a:off x="7623929" y="3175159"/>
            <a:ext cx="2743200" cy="342900"/>
          </a:xfrm>
          <a:prstGeom prst="rect">
            <a:avLst/>
          </a:prstGeom>
          <a:noFill/>
          <a:ln/>
        </p:spPr>
        <p:txBody>
          <a:bodyPr wrap="none" lIns="0" tIns="0" rIns="0" bIns="0" rtlCol="0" anchor="t"/>
          <a:lstStyle/>
          <a:p>
            <a:pPr marL="457200" indent="-457200">
              <a:lnSpc>
                <a:spcPts val="2700"/>
              </a:lnSpc>
              <a:buFontTx/>
              <a:buChar char="۞"/>
            </a:pPr>
            <a:r>
              <a:rPr lang="en-US" sz="3000" b="1">
                <a:solidFill>
                  <a:srgbClr val="F0FCFF"/>
                </a:solidFill>
                <a:latin typeface="Spline Sans Bold" pitchFamily="34" charset="0"/>
                <a:ea typeface="Spline Sans Bold" pitchFamily="34" charset="-122"/>
                <a:cs typeface="Spline Sans Bold" pitchFamily="34" charset="-120"/>
              </a:rPr>
              <a:t>Cons(Dis-Advantages)</a:t>
            </a:r>
            <a:endParaRPr lang="en-US" sz="3000"/>
          </a:p>
        </p:txBody>
      </p:sp>
      <p:sp>
        <p:nvSpPr>
          <p:cNvPr id="6" name="Text 4"/>
          <p:cNvSpPr/>
          <p:nvPr/>
        </p:nvSpPr>
        <p:spPr>
          <a:xfrm>
            <a:off x="7623929" y="3764875"/>
            <a:ext cx="6150054" cy="1975247"/>
          </a:xfrm>
          <a:prstGeom prst="rect">
            <a:avLst/>
          </a:prstGeom>
          <a:noFill/>
          <a:ln/>
        </p:spPr>
        <p:txBody>
          <a:bodyPr wrap="square" lIns="0" tIns="0" rIns="0" bIns="0" rtlCol="0" anchor="t"/>
          <a:lstStyle/>
          <a:p>
            <a:pPr marL="457200" indent="-457200">
              <a:lnSpc>
                <a:spcPts val="3100"/>
              </a:lnSpc>
              <a:buFont typeface="+mj-lt"/>
              <a:buAutoNum type="arabicPeriod"/>
            </a:pPr>
            <a:r>
              <a:rPr lang="en-US" sz="2400">
                <a:solidFill>
                  <a:srgbClr val="E0E4E6"/>
                </a:solidFill>
                <a:latin typeface="Barlow" pitchFamily="34" charset="0"/>
                <a:ea typeface="Barlow" pitchFamily="34" charset="-122"/>
                <a:cs typeface="Barlow" pitchFamily="34" charset="-120"/>
              </a:rPr>
              <a:t>The free version of RMTrack has limited features</a:t>
            </a:r>
          </a:p>
          <a:p>
            <a:pPr marL="457200" indent="-457200">
              <a:lnSpc>
                <a:spcPts val="3100"/>
              </a:lnSpc>
              <a:buFont typeface="+mj-lt"/>
              <a:buAutoNum type="arabicPeriod"/>
            </a:pPr>
            <a:r>
              <a:rPr lang="en-US" sz="2400">
                <a:solidFill>
                  <a:srgbClr val="E0E4E6"/>
                </a:solidFill>
                <a:latin typeface="Barlow" pitchFamily="34" charset="0"/>
                <a:ea typeface="Barlow" pitchFamily="34" charset="-122"/>
                <a:cs typeface="Barlow" pitchFamily="34" charset="-120"/>
              </a:rPr>
              <a:t>Advanced features require initial training.</a:t>
            </a:r>
          </a:p>
          <a:p>
            <a:pPr marL="457200" indent="-457200">
              <a:lnSpc>
                <a:spcPts val="3100"/>
              </a:lnSpc>
              <a:buFont typeface="+mj-lt"/>
              <a:buAutoNum type="arabicPeriod"/>
            </a:pPr>
            <a:r>
              <a:rPr lang="en-US" sz="2400">
                <a:solidFill>
                  <a:srgbClr val="E0E4E6"/>
                </a:solidFill>
                <a:latin typeface="Barlow" pitchFamily="34" charset="0"/>
                <a:ea typeface="Barlow" pitchFamily="34" charset="-122"/>
                <a:cs typeface="Barlow" pitchFamily="34" charset="-120"/>
              </a:rPr>
              <a:t>While suitable for small to medium-sized teams, RMTrack might not be the ideal choice for very large enterprise-scale projects with complex needs.</a:t>
            </a:r>
            <a:endParaRPr 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3010733"/>
          </a:xfrm>
          <a:prstGeom prst="rect">
            <a:avLst/>
          </a:prstGeom>
        </p:spPr>
      </p:pic>
      <p:sp>
        <p:nvSpPr>
          <p:cNvPr id="3" name="Text 0"/>
          <p:cNvSpPr/>
          <p:nvPr/>
        </p:nvSpPr>
        <p:spPr>
          <a:xfrm>
            <a:off x="842963" y="3673435"/>
            <a:ext cx="10757773" cy="669131"/>
          </a:xfrm>
          <a:prstGeom prst="rect">
            <a:avLst/>
          </a:prstGeom>
          <a:noFill/>
          <a:ln/>
        </p:spPr>
        <p:txBody>
          <a:bodyPr wrap="none" lIns="0" tIns="0" rIns="0" bIns="0" rtlCol="0" anchor="t"/>
          <a:lstStyle/>
          <a:p>
            <a:pPr marL="571500" indent="-571500">
              <a:lnSpc>
                <a:spcPts val="5250"/>
              </a:lnSpc>
              <a:buFont typeface="Wingdings" panose="05000000000000000000" pitchFamily="2" charset="2"/>
              <a:buChar char="v"/>
            </a:pPr>
            <a:r>
              <a:rPr lang="en-US" sz="4200" b="1">
                <a:solidFill>
                  <a:srgbClr val="F0FCFF"/>
                </a:solidFill>
                <a:latin typeface="Spline Sans Bold" pitchFamily="34" charset="0"/>
                <a:ea typeface="Spline Sans Bold" pitchFamily="34" charset="-122"/>
                <a:cs typeface="Spline Sans Bold" pitchFamily="34" charset="-120"/>
              </a:rPr>
              <a:t>Cognitive and Group Elicitation Techniques</a:t>
            </a:r>
            <a:endParaRPr lang="en-US" sz="4200"/>
          </a:p>
        </p:txBody>
      </p:sp>
      <p:pic>
        <p:nvPicPr>
          <p:cNvPr id="4" name="Image 1" descr="preencoded.png"/>
          <p:cNvPicPr>
            <a:picLocks noChangeAspect="1"/>
          </p:cNvPicPr>
          <p:nvPr/>
        </p:nvPicPr>
        <p:blipFill>
          <a:blip r:embed="rId4"/>
          <a:stretch>
            <a:fillRect/>
          </a:stretch>
        </p:blipFill>
        <p:spPr>
          <a:xfrm>
            <a:off x="842963" y="4703802"/>
            <a:ext cx="602099" cy="602099"/>
          </a:xfrm>
          <a:prstGeom prst="rect">
            <a:avLst/>
          </a:prstGeom>
        </p:spPr>
      </p:pic>
      <p:sp>
        <p:nvSpPr>
          <p:cNvPr id="5" name="Text 1"/>
          <p:cNvSpPr/>
          <p:nvPr/>
        </p:nvSpPr>
        <p:spPr>
          <a:xfrm>
            <a:off x="842963" y="5546765"/>
            <a:ext cx="2676287" cy="334566"/>
          </a:xfrm>
          <a:prstGeom prst="rect">
            <a:avLst/>
          </a:prstGeom>
          <a:noFill/>
          <a:ln/>
        </p:spPr>
        <p:txBody>
          <a:bodyPr wrap="none" lIns="0" tIns="0" rIns="0" bIns="0" rtlCol="0" anchor="t"/>
          <a:lstStyle/>
          <a:p>
            <a:pPr marL="457200" indent="-457200" algn="l">
              <a:lnSpc>
                <a:spcPts val="2600"/>
              </a:lnSpc>
              <a:buFontTx/>
              <a:buChar char="۞"/>
            </a:pPr>
            <a:r>
              <a:rPr lang="en-US" sz="3000" b="1" i="1">
                <a:solidFill>
                  <a:srgbClr val="E0E4E6"/>
                </a:solidFill>
                <a:latin typeface="Spline Sans Bold" pitchFamily="34" charset="0"/>
                <a:ea typeface="Spline Sans Bold" pitchFamily="34" charset="-122"/>
                <a:cs typeface="Spline Sans Bold" pitchFamily="34" charset="-120"/>
              </a:rPr>
              <a:t>Cognitive Elicitation</a:t>
            </a:r>
            <a:endParaRPr lang="en-US" sz="3000" i="1"/>
          </a:p>
        </p:txBody>
      </p:sp>
      <p:sp>
        <p:nvSpPr>
          <p:cNvPr id="6" name="Text 2"/>
          <p:cNvSpPr/>
          <p:nvPr/>
        </p:nvSpPr>
        <p:spPr>
          <a:xfrm>
            <a:off x="842963" y="6025753"/>
            <a:ext cx="6291620" cy="1155859"/>
          </a:xfrm>
          <a:prstGeom prst="rect">
            <a:avLst/>
          </a:prstGeom>
          <a:noFill/>
          <a:ln/>
        </p:spPr>
        <p:txBody>
          <a:bodyPr wrap="square" lIns="0" tIns="0" rIns="0" bIns="0" rtlCol="0" anchor="t"/>
          <a:lstStyle/>
          <a:p>
            <a:pPr marL="0" indent="0" algn="l">
              <a:lnSpc>
                <a:spcPts val="3000"/>
              </a:lnSpc>
              <a:buNone/>
            </a:pPr>
            <a:r>
              <a:rPr lang="en-US" sz="2400">
                <a:solidFill>
                  <a:srgbClr val="E0E4E6"/>
                </a:solidFill>
                <a:latin typeface="Barlow" pitchFamily="34" charset="0"/>
                <a:ea typeface="Barlow" pitchFamily="34" charset="-122"/>
                <a:cs typeface="Barlow" pitchFamily="34" charset="-120"/>
              </a:rPr>
              <a:t>Focuses on understanding the mental models and processes of individuals, utilizing techniques like interviews, Think-Aloud Protocols, and brainstorming to gather requirements.</a:t>
            </a:r>
            <a:endParaRPr lang="en-US" sz="2400"/>
          </a:p>
        </p:txBody>
      </p:sp>
      <p:pic>
        <p:nvPicPr>
          <p:cNvPr id="7" name="Image 2" descr="preencoded.png"/>
          <p:cNvPicPr>
            <a:picLocks noChangeAspect="1"/>
          </p:cNvPicPr>
          <p:nvPr/>
        </p:nvPicPr>
        <p:blipFill>
          <a:blip r:embed="rId5"/>
          <a:stretch>
            <a:fillRect/>
          </a:stretch>
        </p:blipFill>
        <p:spPr>
          <a:xfrm>
            <a:off x="7495818" y="4703802"/>
            <a:ext cx="602099" cy="602099"/>
          </a:xfrm>
          <a:prstGeom prst="rect">
            <a:avLst/>
          </a:prstGeom>
        </p:spPr>
      </p:pic>
      <p:sp>
        <p:nvSpPr>
          <p:cNvPr id="8" name="Text 3"/>
          <p:cNvSpPr/>
          <p:nvPr/>
        </p:nvSpPr>
        <p:spPr>
          <a:xfrm>
            <a:off x="7495818" y="5546765"/>
            <a:ext cx="2676287" cy="334566"/>
          </a:xfrm>
          <a:prstGeom prst="rect">
            <a:avLst/>
          </a:prstGeom>
          <a:noFill/>
          <a:ln/>
        </p:spPr>
        <p:txBody>
          <a:bodyPr wrap="none" lIns="0" tIns="0" rIns="0" bIns="0" rtlCol="0" anchor="t"/>
          <a:lstStyle/>
          <a:p>
            <a:pPr marL="457200" indent="-457200" algn="l">
              <a:lnSpc>
                <a:spcPts val="2600"/>
              </a:lnSpc>
              <a:buFontTx/>
              <a:buChar char="۞"/>
            </a:pPr>
            <a:r>
              <a:rPr lang="en-US" sz="3000" b="1" i="1">
                <a:solidFill>
                  <a:srgbClr val="E0E4E6"/>
                </a:solidFill>
                <a:latin typeface="Spline Sans Bold" pitchFamily="34" charset="0"/>
                <a:ea typeface="Spline Sans Bold" pitchFamily="34" charset="-122"/>
                <a:cs typeface="Spline Sans Bold" pitchFamily="34" charset="-120"/>
              </a:rPr>
              <a:t>Group Elicitation</a:t>
            </a:r>
            <a:endParaRPr lang="en-US" sz="3000" i="1"/>
          </a:p>
        </p:txBody>
      </p:sp>
      <p:sp>
        <p:nvSpPr>
          <p:cNvPr id="9" name="Text 4"/>
          <p:cNvSpPr/>
          <p:nvPr/>
        </p:nvSpPr>
        <p:spPr>
          <a:xfrm>
            <a:off x="7495818" y="6025753"/>
            <a:ext cx="6291620" cy="1541145"/>
          </a:xfrm>
          <a:prstGeom prst="rect">
            <a:avLst/>
          </a:prstGeom>
          <a:noFill/>
          <a:ln/>
        </p:spPr>
        <p:txBody>
          <a:bodyPr wrap="square" lIns="0" tIns="0" rIns="0" bIns="0" rtlCol="0" anchor="t"/>
          <a:lstStyle/>
          <a:p>
            <a:pPr marL="0" indent="0" algn="l">
              <a:lnSpc>
                <a:spcPts val="3000"/>
              </a:lnSpc>
              <a:buNone/>
            </a:pPr>
            <a:r>
              <a:rPr lang="en-US" sz="2400">
                <a:solidFill>
                  <a:srgbClr val="E0E4E6"/>
                </a:solidFill>
                <a:latin typeface="Barlow" pitchFamily="34" charset="0"/>
                <a:ea typeface="Barlow" pitchFamily="34" charset="-122"/>
                <a:cs typeface="Barlow" pitchFamily="34" charset="-120"/>
              </a:rPr>
              <a:t>Employs collective methods for requirement gathering, such as focus groups, workshops, and Joint Application Development (JAD), emphasizing collaboration and consensus building.</a:t>
            </a:r>
            <a:endParaRPr lang="en-US"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526733" y="415766"/>
            <a:ext cx="9052679" cy="418028"/>
          </a:xfrm>
          <a:prstGeom prst="rect">
            <a:avLst/>
          </a:prstGeom>
          <a:noFill/>
          <a:ln/>
        </p:spPr>
        <p:txBody>
          <a:bodyPr wrap="none" lIns="0" tIns="0" rIns="0" bIns="0" rtlCol="0" anchor="t"/>
          <a:lstStyle/>
          <a:p>
            <a:pPr marL="457200" indent="-457200">
              <a:lnSpc>
                <a:spcPts val="3250"/>
              </a:lnSpc>
              <a:buFont typeface="Wingdings" panose="05000000000000000000" pitchFamily="2" charset="2"/>
              <a:buChar char="v"/>
            </a:pPr>
            <a:r>
              <a:rPr lang="en-US" sz="2600" b="1">
                <a:solidFill>
                  <a:srgbClr val="F0FCFF"/>
                </a:solidFill>
                <a:latin typeface="Spline Sans Bold" pitchFamily="34" charset="0"/>
                <a:ea typeface="Spline Sans Bold" pitchFamily="34" charset="-122"/>
                <a:cs typeface="Spline Sans Bold" pitchFamily="34" charset="-120"/>
              </a:rPr>
              <a:t>Applying RMTrack to Improve Requirements Management</a:t>
            </a:r>
            <a:endParaRPr lang="en-US" sz="2600"/>
          </a:p>
        </p:txBody>
      </p:sp>
      <p:pic>
        <p:nvPicPr>
          <p:cNvPr id="3" name="Image 0" descr="preencoded.png"/>
          <p:cNvPicPr>
            <a:picLocks noChangeAspect="1"/>
          </p:cNvPicPr>
          <p:nvPr/>
        </p:nvPicPr>
        <p:blipFill>
          <a:blip r:embed="rId3"/>
          <a:stretch>
            <a:fillRect/>
          </a:stretch>
        </p:blipFill>
        <p:spPr>
          <a:xfrm>
            <a:off x="3360896" y="1134785"/>
            <a:ext cx="1120021" cy="1081802"/>
          </a:xfrm>
          <a:prstGeom prst="rect">
            <a:avLst/>
          </a:prstGeom>
        </p:spPr>
      </p:pic>
      <p:sp>
        <p:nvSpPr>
          <p:cNvPr id="4" name="Text 1"/>
          <p:cNvSpPr/>
          <p:nvPr/>
        </p:nvSpPr>
        <p:spPr>
          <a:xfrm>
            <a:off x="3880247" y="1664851"/>
            <a:ext cx="81320" cy="300990"/>
          </a:xfrm>
          <a:prstGeom prst="rect">
            <a:avLst/>
          </a:prstGeom>
          <a:noFill/>
          <a:ln/>
        </p:spPr>
        <p:txBody>
          <a:bodyPr wrap="none" lIns="0" tIns="0" rIns="0" bIns="0" rtlCol="0" anchor="t"/>
          <a:lstStyle/>
          <a:p>
            <a:pPr marL="0" indent="0" algn="ctr">
              <a:lnSpc>
                <a:spcPts val="2350"/>
              </a:lnSpc>
              <a:buNone/>
            </a:pPr>
            <a:r>
              <a:rPr lang="en-US" sz="1450" b="1">
                <a:solidFill>
                  <a:srgbClr val="E0E4E6"/>
                </a:solidFill>
                <a:latin typeface="Spline Sans Bold" pitchFamily="34" charset="0"/>
                <a:ea typeface="Spline Sans Bold" pitchFamily="34" charset="-122"/>
                <a:cs typeface="Spline Sans Bold" pitchFamily="34" charset="-120"/>
              </a:rPr>
              <a:t>1</a:t>
            </a:r>
            <a:endParaRPr lang="en-US" sz="1450"/>
          </a:p>
        </p:txBody>
      </p:sp>
      <p:sp>
        <p:nvSpPr>
          <p:cNvPr id="5" name="Text 2"/>
          <p:cNvSpPr/>
          <p:nvPr/>
        </p:nvSpPr>
        <p:spPr>
          <a:xfrm>
            <a:off x="4631412" y="1405652"/>
            <a:ext cx="1672233" cy="209074"/>
          </a:xfrm>
          <a:prstGeom prst="rect">
            <a:avLst/>
          </a:prstGeom>
          <a:noFill/>
          <a:ln/>
        </p:spPr>
        <p:txBody>
          <a:bodyPr wrap="none" lIns="0" tIns="0" rIns="0" bIns="0" rtlCol="0" anchor="t"/>
          <a:lstStyle/>
          <a:p>
            <a:pPr marL="0" indent="0" algn="l">
              <a:lnSpc>
                <a:spcPts val="1600"/>
              </a:lnSpc>
              <a:buNone/>
            </a:pPr>
            <a:r>
              <a:rPr lang="en-US" sz="2500" b="1">
                <a:solidFill>
                  <a:srgbClr val="E0E4E6"/>
                </a:solidFill>
                <a:latin typeface="Spline Sans Bold" pitchFamily="34" charset="0"/>
                <a:ea typeface="Spline Sans Bold" pitchFamily="34" charset="-122"/>
                <a:cs typeface="Spline Sans Bold" pitchFamily="34" charset="-120"/>
              </a:rPr>
              <a:t>Define Goals</a:t>
            </a:r>
            <a:endParaRPr lang="en-US" sz="2500"/>
          </a:p>
        </p:txBody>
      </p:sp>
      <p:sp>
        <p:nvSpPr>
          <p:cNvPr id="6" name="Text 3"/>
          <p:cNvSpPr/>
          <p:nvPr/>
        </p:nvSpPr>
        <p:spPr>
          <a:xfrm>
            <a:off x="4631412" y="1704975"/>
            <a:ext cx="5182433" cy="240744"/>
          </a:xfrm>
          <a:prstGeom prst="rect">
            <a:avLst/>
          </a:prstGeom>
          <a:noFill/>
          <a:ln/>
        </p:spPr>
        <p:txBody>
          <a:bodyPr wrap="none" lIns="0" tIns="0" rIns="0" bIns="0" rtlCol="0" anchor="t"/>
          <a:lstStyle/>
          <a:p>
            <a:pPr marL="0" indent="0" algn="l">
              <a:lnSpc>
                <a:spcPts val="1850"/>
              </a:lnSpc>
              <a:buNone/>
            </a:pPr>
            <a:r>
              <a:rPr lang="en-US" sz="2000">
                <a:solidFill>
                  <a:srgbClr val="E0E4E6"/>
                </a:solidFill>
                <a:latin typeface="Barlow" pitchFamily="34" charset="0"/>
                <a:ea typeface="Barlow" pitchFamily="34" charset="-122"/>
                <a:cs typeface="Barlow" pitchFamily="34" charset="-120"/>
              </a:rPr>
              <a:t>Enhance repository searchability and streamline stakeholder requirement input.</a:t>
            </a:r>
            <a:endParaRPr lang="en-US" sz="2000"/>
          </a:p>
        </p:txBody>
      </p:sp>
      <p:sp>
        <p:nvSpPr>
          <p:cNvPr id="7" name="Shape 4"/>
          <p:cNvSpPr/>
          <p:nvPr/>
        </p:nvSpPr>
        <p:spPr>
          <a:xfrm>
            <a:off x="4518541" y="2231588"/>
            <a:ext cx="9547503" cy="7620"/>
          </a:xfrm>
          <a:prstGeom prst="roundRect">
            <a:avLst>
              <a:gd name="adj" fmla="val 2962620"/>
            </a:avLst>
          </a:prstGeom>
          <a:solidFill>
            <a:srgbClr val="16FFBB"/>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2800826" y="2254210"/>
            <a:ext cx="2240161" cy="1081802"/>
          </a:xfrm>
          <a:prstGeom prst="rect">
            <a:avLst/>
          </a:prstGeom>
        </p:spPr>
      </p:pic>
      <p:sp>
        <p:nvSpPr>
          <p:cNvPr id="9" name="Text 5"/>
          <p:cNvSpPr/>
          <p:nvPr/>
        </p:nvSpPr>
        <p:spPr>
          <a:xfrm>
            <a:off x="3868579" y="2644616"/>
            <a:ext cx="104537" cy="300990"/>
          </a:xfrm>
          <a:prstGeom prst="rect">
            <a:avLst/>
          </a:prstGeom>
          <a:noFill/>
          <a:ln/>
        </p:spPr>
        <p:txBody>
          <a:bodyPr wrap="none" lIns="0" tIns="0" rIns="0" bIns="0" rtlCol="0" anchor="t"/>
          <a:lstStyle/>
          <a:p>
            <a:pPr marL="0" indent="0" algn="ctr">
              <a:lnSpc>
                <a:spcPts val="2350"/>
              </a:lnSpc>
              <a:buNone/>
            </a:pPr>
            <a:r>
              <a:rPr lang="en-US" sz="1450" b="1">
                <a:solidFill>
                  <a:srgbClr val="E0E4E6"/>
                </a:solidFill>
                <a:latin typeface="Spline Sans Bold" pitchFamily="34" charset="0"/>
                <a:ea typeface="Spline Sans Bold" pitchFamily="34" charset="-122"/>
                <a:cs typeface="Spline Sans Bold" pitchFamily="34" charset="-120"/>
              </a:rPr>
              <a:t>2</a:t>
            </a:r>
            <a:endParaRPr lang="en-US" sz="1450"/>
          </a:p>
        </p:txBody>
      </p:sp>
      <p:sp>
        <p:nvSpPr>
          <p:cNvPr id="10" name="Text 6"/>
          <p:cNvSpPr/>
          <p:nvPr/>
        </p:nvSpPr>
        <p:spPr>
          <a:xfrm>
            <a:off x="5191482" y="2525078"/>
            <a:ext cx="2499003" cy="209074"/>
          </a:xfrm>
          <a:prstGeom prst="rect">
            <a:avLst/>
          </a:prstGeom>
          <a:noFill/>
          <a:ln/>
        </p:spPr>
        <p:txBody>
          <a:bodyPr wrap="none" lIns="0" tIns="0" rIns="0" bIns="0" rtlCol="0" anchor="t"/>
          <a:lstStyle/>
          <a:p>
            <a:pPr marL="0" indent="0" algn="l">
              <a:lnSpc>
                <a:spcPts val="1600"/>
              </a:lnSpc>
              <a:buNone/>
            </a:pPr>
            <a:r>
              <a:rPr lang="en-US" sz="2500" b="1">
                <a:solidFill>
                  <a:srgbClr val="E0E4E6"/>
                </a:solidFill>
                <a:latin typeface="Spline Sans Bold" pitchFamily="34" charset="0"/>
                <a:ea typeface="Spline Sans Bold" pitchFamily="34" charset="-122"/>
                <a:cs typeface="Spline Sans Bold" pitchFamily="34" charset="-120"/>
              </a:rPr>
              <a:t>Categorization of Requirements</a:t>
            </a:r>
            <a:endParaRPr lang="en-US" sz="2500"/>
          </a:p>
        </p:txBody>
      </p:sp>
      <p:sp>
        <p:nvSpPr>
          <p:cNvPr id="11" name="Text 7"/>
          <p:cNvSpPr/>
          <p:nvPr/>
        </p:nvSpPr>
        <p:spPr>
          <a:xfrm>
            <a:off x="5191482" y="2824401"/>
            <a:ext cx="7384137" cy="240744"/>
          </a:xfrm>
          <a:prstGeom prst="rect">
            <a:avLst/>
          </a:prstGeom>
          <a:noFill/>
          <a:ln/>
        </p:spPr>
        <p:txBody>
          <a:bodyPr wrap="none" lIns="0" tIns="0" rIns="0" bIns="0" rtlCol="0" anchor="t"/>
          <a:lstStyle/>
          <a:p>
            <a:pPr marL="0" indent="0" algn="l">
              <a:lnSpc>
                <a:spcPts val="1850"/>
              </a:lnSpc>
              <a:buNone/>
            </a:pPr>
            <a:r>
              <a:rPr lang="en-US" sz="1400">
                <a:solidFill>
                  <a:srgbClr val="E0E4E6"/>
                </a:solidFill>
                <a:latin typeface="Barlow" pitchFamily="34" charset="0"/>
                <a:ea typeface="Barlow" pitchFamily="34" charset="-122"/>
                <a:cs typeface="Barlow" pitchFamily="34" charset="-120"/>
              </a:rPr>
              <a:t>Group requirements into modules using </a:t>
            </a:r>
            <a:r>
              <a:rPr lang="en-US" sz="1400" err="1">
                <a:solidFill>
                  <a:srgbClr val="E0E4E6"/>
                </a:solidFill>
                <a:latin typeface="Barlow" pitchFamily="34" charset="0"/>
                <a:ea typeface="Barlow" pitchFamily="34" charset="-122"/>
                <a:cs typeface="Barlow" pitchFamily="34" charset="-120"/>
              </a:rPr>
              <a:t>RMTrack's</a:t>
            </a:r>
            <a:r>
              <a:rPr lang="en-US" sz="1400">
                <a:solidFill>
                  <a:srgbClr val="E0E4E6"/>
                </a:solidFill>
                <a:latin typeface="Barlow" pitchFamily="34" charset="0"/>
                <a:ea typeface="Barlow" pitchFamily="34" charset="-122"/>
                <a:cs typeface="Barlow" pitchFamily="34" charset="-120"/>
              </a:rPr>
              <a:t> Custom Fields feature for better organization and management.</a:t>
            </a:r>
            <a:endParaRPr lang="en-US" sz="1400"/>
          </a:p>
        </p:txBody>
      </p:sp>
      <p:sp>
        <p:nvSpPr>
          <p:cNvPr id="12" name="Shape 8"/>
          <p:cNvSpPr/>
          <p:nvPr/>
        </p:nvSpPr>
        <p:spPr>
          <a:xfrm>
            <a:off x="5078611" y="3351014"/>
            <a:ext cx="8987433" cy="7620"/>
          </a:xfrm>
          <a:prstGeom prst="roundRect">
            <a:avLst>
              <a:gd name="adj" fmla="val 2962620"/>
            </a:avLst>
          </a:prstGeom>
          <a:solidFill>
            <a:srgbClr val="29DDDA"/>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2240756" y="3373636"/>
            <a:ext cx="3360182" cy="1081802"/>
          </a:xfrm>
          <a:prstGeom prst="rect">
            <a:avLst/>
          </a:prstGeom>
        </p:spPr>
      </p:pic>
      <p:sp>
        <p:nvSpPr>
          <p:cNvPr id="14" name="Text 9"/>
          <p:cNvSpPr/>
          <p:nvPr/>
        </p:nvSpPr>
        <p:spPr>
          <a:xfrm>
            <a:off x="3865721" y="3764042"/>
            <a:ext cx="110133" cy="300990"/>
          </a:xfrm>
          <a:prstGeom prst="rect">
            <a:avLst/>
          </a:prstGeom>
          <a:noFill/>
          <a:ln/>
        </p:spPr>
        <p:txBody>
          <a:bodyPr wrap="none" lIns="0" tIns="0" rIns="0" bIns="0" rtlCol="0" anchor="t"/>
          <a:lstStyle/>
          <a:p>
            <a:pPr marL="0" indent="0" algn="ctr">
              <a:lnSpc>
                <a:spcPts val="2350"/>
              </a:lnSpc>
              <a:buNone/>
            </a:pPr>
            <a:r>
              <a:rPr lang="en-US" sz="1450" b="1">
                <a:solidFill>
                  <a:srgbClr val="E0E4E6"/>
                </a:solidFill>
                <a:latin typeface="Spline Sans Bold" pitchFamily="34" charset="0"/>
                <a:ea typeface="Spline Sans Bold" pitchFamily="34" charset="-122"/>
                <a:cs typeface="Spline Sans Bold" pitchFamily="34" charset="-120"/>
              </a:rPr>
              <a:t>3</a:t>
            </a:r>
            <a:endParaRPr lang="en-US" sz="1450"/>
          </a:p>
        </p:txBody>
      </p:sp>
      <p:sp>
        <p:nvSpPr>
          <p:cNvPr id="15" name="Text 10"/>
          <p:cNvSpPr/>
          <p:nvPr/>
        </p:nvSpPr>
        <p:spPr>
          <a:xfrm>
            <a:off x="5751433" y="3644503"/>
            <a:ext cx="1955483" cy="209074"/>
          </a:xfrm>
          <a:prstGeom prst="rect">
            <a:avLst/>
          </a:prstGeom>
          <a:noFill/>
          <a:ln/>
        </p:spPr>
        <p:txBody>
          <a:bodyPr wrap="none" lIns="0" tIns="0" rIns="0" bIns="0" rtlCol="0" anchor="t"/>
          <a:lstStyle/>
          <a:p>
            <a:pPr marL="0" indent="0" algn="l">
              <a:lnSpc>
                <a:spcPts val="1600"/>
              </a:lnSpc>
              <a:buNone/>
            </a:pPr>
            <a:r>
              <a:rPr lang="en-US" sz="2500" b="1">
                <a:solidFill>
                  <a:srgbClr val="E0E4E6"/>
                </a:solidFill>
                <a:latin typeface="Spline Sans Bold" pitchFamily="34" charset="0"/>
                <a:ea typeface="Spline Sans Bold" pitchFamily="34" charset="-122"/>
                <a:cs typeface="Spline Sans Bold" pitchFamily="34" charset="-120"/>
              </a:rPr>
              <a:t>Workflow Customization</a:t>
            </a:r>
            <a:endParaRPr lang="en-US" sz="2500"/>
          </a:p>
        </p:txBody>
      </p:sp>
      <p:sp>
        <p:nvSpPr>
          <p:cNvPr id="16" name="Text 11"/>
          <p:cNvSpPr/>
          <p:nvPr/>
        </p:nvSpPr>
        <p:spPr>
          <a:xfrm>
            <a:off x="5751433" y="3943826"/>
            <a:ext cx="6801564" cy="240744"/>
          </a:xfrm>
          <a:prstGeom prst="rect">
            <a:avLst/>
          </a:prstGeom>
          <a:noFill/>
          <a:ln/>
        </p:spPr>
        <p:txBody>
          <a:bodyPr wrap="none" lIns="0" tIns="0" rIns="0" bIns="0" rtlCol="0" anchor="t"/>
          <a:lstStyle/>
          <a:p>
            <a:pPr marL="0" indent="0" algn="l">
              <a:lnSpc>
                <a:spcPts val="1850"/>
              </a:lnSpc>
              <a:buNone/>
            </a:pPr>
            <a:r>
              <a:rPr lang="en-US" sz="1500">
                <a:solidFill>
                  <a:srgbClr val="E0E4E6"/>
                </a:solidFill>
                <a:latin typeface="Barlow" pitchFamily="34" charset="0"/>
                <a:ea typeface="Barlow" pitchFamily="34" charset="-122"/>
                <a:cs typeface="Barlow" pitchFamily="34" charset="-120"/>
              </a:rPr>
              <a:t>Design a step-by-step flow for requirements: Initial → Reviewed → Approved → Implemented → Verified.</a:t>
            </a:r>
            <a:endParaRPr lang="en-US" sz="1500"/>
          </a:p>
        </p:txBody>
      </p:sp>
      <p:sp>
        <p:nvSpPr>
          <p:cNvPr id="17" name="Shape 12"/>
          <p:cNvSpPr/>
          <p:nvPr/>
        </p:nvSpPr>
        <p:spPr>
          <a:xfrm>
            <a:off x="5638562" y="4470440"/>
            <a:ext cx="8427482" cy="7620"/>
          </a:xfrm>
          <a:prstGeom prst="roundRect">
            <a:avLst>
              <a:gd name="adj" fmla="val 2962620"/>
            </a:avLst>
          </a:prstGeom>
          <a:solidFill>
            <a:srgbClr val="37A7E7"/>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1680686" y="4493062"/>
            <a:ext cx="4480322" cy="1081802"/>
          </a:xfrm>
          <a:prstGeom prst="rect">
            <a:avLst/>
          </a:prstGeom>
        </p:spPr>
      </p:pic>
      <p:sp>
        <p:nvSpPr>
          <p:cNvPr id="19" name="Text 13"/>
          <p:cNvSpPr/>
          <p:nvPr/>
        </p:nvSpPr>
        <p:spPr>
          <a:xfrm>
            <a:off x="3867626" y="4883468"/>
            <a:ext cx="106323" cy="300990"/>
          </a:xfrm>
          <a:prstGeom prst="rect">
            <a:avLst/>
          </a:prstGeom>
          <a:noFill/>
          <a:ln/>
        </p:spPr>
        <p:txBody>
          <a:bodyPr wrap="none" lIns="0" tIns="0" rIns="0" bIns="0" rtlCol="0" anchor="t"/>
          <a:lstStyle/>
          <a:p>
            <a:pPr marL="0" indent="0" algn="ctr">
              <a:lnSpc>
                <a:spcPts val="2350"/>
              </a:lnSpc>
              <a:buNone/>
            </a:pPr>
            <a:r>
              <a:rPr lang="en-US" sz="1450" b="1">
                <a:solidFill>
                  <a:srgbClr val="E0E4E6"/>
                </a:solidFill>
                <a:latin typeface="Spline Sans Bold" pitchFamily="34" charset="0"/>
                <a:ea typeface="Spline Sans Bold" pitchFamily="34" charset="-122"/>
                <a:cs typeface="Spline Sans Bold" pitchFamily="34" charset="-120"/>
              </a:rPr>
              <a:t>4</a:t>
            </a:r>
            <a:endParaRPr lang="en-US" sz="1450"/>
          </a:p>
        </p:txBody>
      </p:sp>
      <p:sp>
        <p:nvSpPr>
          <p:cNvPr id="20" name="Text 14"/>
          <p:cNvSpPr/>
          <p:nvPr/>
        </p:nvSpPr>
        <p:spPr>
          <a:xfrm>
            <a:off x="6311503" y="4643557"/>
            <a:ext cx="1987868" cy="209074"/>
          </a:xfrm>
          <a:prstGeom prst="rect">
            <a:avLst/>
          </a:prstGeom>
          <a:noFill/>
          <a:ln/>
        </p:spPr>
        <p:txBody>
          <a:bodyPr wrap="none" lIns="0" tIns="0" rIns="0" bIns="0" rtlCol="0" anchor="t"/>
          <a:lstStyle/>
          <a:p>
            <a:pPr marL="0" indent="0" algn="l">
              <a:lnSpc>
                <a:spcPts val="1600"/>
              </a:lnSpc>
              <a:buNone/>
            </a:pPr>
            <a:r>
              <a:rPr lang="en-US" sz="2500" b="1">
                <a:solidFill>
                  <a:srgbClr val="E0E4E6"/>
                </a:solidFill>
                <a:latin typeface="Spline Sans Bold" pitchFamily="34" charset="0"/>
                <a:ea typeface="Spline Sans Bold" pitchFamily="34" charset="-122"/>
                <a:cs typeface="Spline Sans Bold" pitchFamily="34" charset="-120"/>
              </a:rPr>
              <a:t>Collaborative Workshops</a:t>
            </a:r>
            <a:endParaRPr lang="en-US" sz="2500"/>
          </a:p>
        </p:txBody>
      </p:sp>
      <p:sp>
        <p:nvSpPr>
          <p:cNvPr id="21" name="Text 15"/>
          <p:cNvSpPr/>
          <p:nvPr/>
        </p:nvSpPr>
        <p:spPr>
          <a:xfrm>
            <a:off x="6311503" y="4942880"/>
            <a:ext cx="7641669" cy="481489"/>
          </a:xfrm>
          <a:prstGeom prst="rect">
            <a:avLst/>
          </a:prstGeom>
          <a:noFill/>
          <a:ln/>
        </p:spPr>
        <p:txBody>
          <a:bodyPr wrap="square" lIns="0" tIns="0" rIns="0" bIns="0" rtlCol="0" anchor="t"/>
          <a:lstStyle/>
          <a:p>
            <a:pPr marL="0" indent="0" algn="l">
              <a:lnSpc>
                <a:spcPts val="1850"/>
              </a:lnSpc>
              <a:buNone/>
            </a:pPr>
            <a:r>
              <a:rPr lang="en-US" sz="2000">
                <a:solidFill>
                  <a:srgbClr val="E0E4E6"/>
                </a:solidFill>
                <a:latin typeface="Barlow" pitchFamily="34" charset="0"/>
                <a:ea typeface="Barlow" pitchFamily="34" charset="-122"/>
                <a:cs typeface="Barlow" pitchFamily="34" charset="-120"/>
              </a:rPr>
              <a:t>Conduct requirement elicitation workshops using Think-Aloud Protocols and focus groups for collective requirement validation.</a:t>
            </a:r>
            <a:endParaRPr lang="en-US" sz="2000"/>
          </a:p>
        </p:txBody>
      </p:sp>
      <p:sp>
        <p:nvSpPr>
          <p:cNvPr id="22" name="Shape 16"/>
          <p:cNvSpPr/>
          <p:nvPr/>
        </p:nvSpPr>
        <p:spPr>
          <a:xfrm>
            <a:off x="6198632" y="5589865"/>
            <a:ext cx="7867412" cy="7620"/>
          </a:xfrm>
          <a:prstGeom prst="roundRect">
            <a:avLst>
              <a:gd name="adj" fmla="val 2962620"/>
            </a:avLst>
          </a:prstGeom>
          <a:solidFill>
            <a:srgbClr val="FCEC99"/>
          </a:solidFill>
          <a:ln/>
        </p:spPr>
        <p:txBody>
          <a:bodyPr/>
          <a:lstStyle/>
          <a:p>
            <a:endParaRPr lang="en-US"/>
          </a:p>
        </p:txBody>
      </p:sp>
      <p:pic>
        <p:nvPicPr>
          <p:cNvPr id="23" name="Image 4" descr="preencoded.png"/>
          <p:cNvPicPr>
            <a:picLocks noChangeAspect="1"/>
          </p:cNvPicPr>
          <p:nvPr/>
        </p:nvPicPr>
        <p:blipFill>
          <a:blip r:embed="rId7"/>
          <a:stretch>
            <a:fillRect/>
          </a:stretch>
        </p:blipFill>
        <p:spPr>
          <a:xfrm>
            <a:off x="1120616" y="5612487"/>
            <a:ext cx="5600462" cy="1081802"/>
          </a:xfrm>
          <a:prstGeom prst="rect">
            <a:avLst/>
          </a:prstGeom>
        </p:spPr>
      </p:pic>
      <p:sp>
        <p:nvSpPr>
          <p:cNvPr id="24" name="Text 17"/>
          <p:cNvSpPr/>
          <p:nvPr/>
        </p:nvSpPr>
        <p:spPr>
          <a:xfrm>
            <a:off x="3867864" y="6002893"/>
            <a:ext cx="105966" cy="300990"/>
          </a:xfrm>
          <a:prstGeom prst="rect">
            <a:avLst/>
          </a:prstGeom>
          <a:noFill/>
          <a:ln/>
        </p:spPr>
        <p:txBody>
          <a:bodyPr wrap="none" lIns="0" tIns="0" rIns="0" bIns="0" rtlCol="0" anchor="t"/>
          <a:lstStyle/>
          <a:p>
            <a:pPr marL="0" indent="0" algn="ctr">
              <a:lnSpc>
                <a:spcPts val="2350"/>
              </a:lnSpc>
              <a:buNone/>
            </a:pPr>
            <a:r>
              <a:rPr lang="en-US" sz="1450" b="1">
                <a:solidFill>
                  <a:srgbClr val="E0E4E6"/>
                </a:solidFill>
                <a:latin typeface="Spline Sans Bold" pitchFamily="34" charset="0"/>
                <a:ea typeface="Spline Sans Bold" pitchFamily="34" charset="-122"/>
                <a:cs typeface="Spline Sans Bold" pitchFamily="34" charset="-120"/>
              </a:rPr>
              <a:t>5</a:t>
            </a:r>
            <a:endParaRPr lang="en-US" sz="1450"/>
          </a:p>
        </p:txBody>
      </p:sp>
      <p:sp>
        <p:nvSpPr>
          <p:cNvPr id="25" name="Text 18"/>
          <p:cNvSpPr/>
          <p:nvPr/>
        </p:nvSpPr>
        <p:spPr>
          <a:xfrm>
            <a:off x="6871573" y="5883354"/>
            <a:ext cx="2276594" cy="209074"/>
          </a:xfrm>
          <a:prstGeom prst="rect">
            <a:avLst/>
          </a:prstGeom>
          <a:noFill/>
          <a:ln/>
        </p:spPr>
        <p:txBody>
          <a:bodyPr wrap="none" lIns="0" tIns="0" rIns="0" bIns="0" rtlCol="0" anchor="t"/>
          <a:lstStyle/>
          <a:p>
            <a:pPr marL="0" indent="0" algn="l">
              <a:lnSpc>
                <a:spcPts val="1600"/>
              </a:lnSpc>
              <a:buNone/>
            </a:pPr>
            <a:r>
              <a:rPr lang="en-US" sz="2500" b="1">
                <a:solidFill>
                  <a:srgbClr val="E0E4E6"/>
                </a:solidFill>
                <a:latin typeface="Spline Sans Bold" pitchFamily="34" charset="0"/>
                <a:ea typeface="Spline Sans Bold" pitchFamily="34" charset="-122"/>
                <a:cs typeface="Spline Sans Bold" pitchFamily="34" charset="-120"/>
              </a:rPr>
              <a:t>Integration of Feedback Loop</a:t>
            </a:r>
            <a:endParaRPr lang="en-US" sz="2500"/>
          </a:p>
        </p:txBody>
      </p:sp>
      <p:sp>
        <p:nvSpPr>
          <p:cNvPr id="26" name="Text 19"/>
          <p:cNvSpPr/>
          <p:nvPr/>
        </p:nvSpPr>
        <p:spPr>
          <a:xfrm>
            <a:off x="6871573" y="6182677"/>
            <a:ext cx="6039445" cy="240744"/>
          </a:xfrm>
          <a:prstGeom prst="rect">
            <a:avLst/>
          </a:prstGeom>
          <a:noFill/>
          <a:ln/>
        </p:spPr>
        <p:txBody>
          <a:bodyPr wrap="none" lIns="0" tIns="0" rIns="0" bIns="0" rtlCol="0" anchor="t"/>
          <a:lstStyle/>
          <a:p>
            <a:pPr marL="0" indent="0" algn="l">
              <a:lnSpc>
                <a:spcPts val="1850"/>
              </a:lnSpc>
              <a:buNone/>
            </a:pPr>
            <a:r>
              <a:rPr lang="en-US" sz="1500">
                <a:solidFill>
                  <a:srgbClr val="E0E4E6"/>
                </a:solidFill>
                <a:latin typeface="Barlow" pitchFamily="34" charset="0"/>
                <a:ea typeface="Barlow" pitchFamily="34" charset="-122"/>
                <a:cs typeface="Barlow" pitchFamily="34" charset="-120"/>
              </a:rPr>
              <a:t>Utilize RMTrack notifications to incorporate stakeholder feedback directly into the repository.</a:t>
            </a:r>
            <a:endParaRPr lang="en-US" sz="1500"/>
          </a:p>
        </p:txBody>
      </p:sp>
      <p:sp>
        <p:nvSpPr>
          <p:cNvPr id="27" name="Shape 20"/>
          <p:cNvSpPr/>
          <p:nvPr/>
        </p:nvSpPr>
        <p:spPr>
          <a:xfrm>
            <a:off x="6758702" y="6709291"/>
            <a:ext cx="7307342" cy="7620"/>
          </a:xfrm>
          <a:prstGeom prst="roundRect">
            <a:avLst>
              <a:gd name="adj" fmla="val 2962620"/>
            </a:avLst>
          </a:prstGeom>
          <a:solidFill>
            <a:srgbClr val="F44444"/>
          </a:solidFill>
          <a:ln/>
        </p:spPr>
        <p:txBody>
          <a:bodyPr/>
          <a:lstStyle/>
          <a:p>
            <a:endParaRPr lang="en-US"/>
          </a:p>
        </p:txBody>
      </p:sp>
      <p:pic>
        <p:nvPicPr>
          <p:cNvPr id="28" name="Image 5" descr="preencoded.png"/>
          <p:cNvPicPr>
            <a:picLocks noChangeAspect="1"/>
          </p:cNvPicPr>
          <p:nvPr/>
        </p:nvPicPr>
        <p:blipFill>
          <a:blip r:embed="rId8"/>
          <a:stretch>
            <a:fillRect/>
          </a:stretch>
        </p:blipFill>
        <p:spPr>
          <a:xfrm>
            <a:off x="560665" y="6731913"/>
            <a:ext cx="6720483" cy="1081802"/>
          </a:xfrm>
          <a:prstGeom prst="rect">
            <a:avLst/>
          </a:prstGeom>
        </p:spPr>
      </p:pic>
      <p:sp>
        <p:nvSpPr>
          <p:cNvPr id="29" name="Text 21"/>
          <p:cNvSpPr/>
          <p:nvPr/>
        </p:nvSpPr>
        <p:spPr>
          <a:xfrm>
            <a:off x="3866436" y="7122319"/>
            <a:ext cx="108704" cy="300990"/>
          </a:xfrm>
          <a:prstGeom prst="rect">
            <a:avLst/>
          </a:prstGeom>
          <a:noFill/>
          <a:ln/>
        </p:spPr>
        <p:txBody>
          <a:bodyPr wrap="none" lIns="0" tIns="0" rIns="0" bIns="0" rtlCol="0" anchor="t"/>
          <a:lstStyle/>
          <a:p>
            <a:pPr marL="0" indent="0" algn="ctr">
              <a:lnSpc>
                <a:spcPts val="2350"/>
              </a:lnSpc>
              <a:buNone/>
            </a:pPr>
            <a:r>
              <a:rPr lang="en-US" sz="1450" b="1">
                <a:solidFill>
                  <a:srgbClr val="E0E4E6"/>
                </a:solidFill>
                <a:latin typeface="Spline Sans Bold" pitchFamily="34" charset="0"/>
                <a:ea typeface="Spline Sans Bold" pitchFamily="34" charset="-122"/>
                <a:cs typeface="Spline Sans Bold" pitchFamily="34" charset="-120"/>
              </a:rPr>
              <a:t>6</a:t>
            </a:r>
            <a:endParaRPr lang="en-US" sz="1450"/>
          </a:p>
        </p:txBody>
      </p:sp>
      <p:sp>
        <p:nvSpPr>
          <p:cNvPr id="30" name="Text 22"/>
          <p:cNvSpPr/>
          <p:nvPr/>
        </p:nvSpPr>
        <p:spPr>
          <a:xfrm>
            <a:off x="7431643" y="7002780"/>
            <a:ext cx="1692592" cy="209074"/>
          </a:xfrm>
          <a:prstGeom prst="rect">
            <a:avLst/>
          </a:prstGeom>
          <a:noFill/>
          <a:ln/>
        </p:spPr>
        <p:txBody>
          <a:bodyPr wrap="none" lIns="0" tIns="0" rIns="0" bIns="0" rtlCol="0" anchor="t"/>
          <a:lstStyle/>
          <a:p>
            <a:pPr marL="0" indent="0" algn="l">
              <a:lnSpc>
                <a:spcPts val="1600"/>
              </a:lnSpc>
              <a:buNone/>
            </a:pPr>
            <a:r>
              <a:rPr lang="en-US" sz="2500" b="1">
                <a:solidFill>
                  <a:srgbClr val="E0E4E6"/>
                </a:solidFill>
                <a:latin typeface="Spline Sans Bold" pitchFamily="34" charset="0"/>
                <a:ea typeface="Spline Sans Bold" pitchFamily="34" charset="-122"/>
                <a:cs typeface="Spline Sans Bold" pitchFamily="34" charset="-120"/>
              </a:rPr>
              <a:t>Automated Reporting</a:t>
            </a:r>
            <a:endParaRPr lang="en-US" sz="2500"/>
          </a:p>
        </p:txBody>
      </p:sp>
      <p:sp>
        <p:nvSpPr>
          <p:cNvPr id="31" name="Text 23"/>
          <p:cNvSpPr/>
          <p:nvPr/>
        </p:nvSpPr>
        <p:spPr>
          <a:xfrm>
            <a:off x="7431643" y="7302103"/>
            <a:ext cx="6284000" cy="240744"/>
          </a:xfrm>
          <a:prstGeom prst="rect">
            <a:avLst/>
          </a:prstGeom>
          <a:noFill/>
          <a:ln/>
        </p:spPr>
        <p:txBody>
          <a:bodyPr wrap="none" lIns="0" tIns="0" rIns="0" bIns="0" rtlCol="0" anchor="t"/>
          <a:lstStyle/>
          <a:p>
            <a:pPr marL="0" indent="0" algn="l">
              <a:lnSpc>
                <a:spcPts val="1850"/>
              </a:lnSpc>
              <a:buNone/>
            </a:pPr>
            <a:r>
              <a:rPr lang="en-US" sz="1300">
                <a:solidFill>
                  <a:srgbClr val="E0E4E6"/>
                </a:solidFill>
                <a:latin typeface="Barlow" pitchFamily="34" charset="0"/>
                <a:ea typeface="Barlow" pitchFamily="34" charset="-122"/>
                <a:cs typeface="Barlow" pitchFamily="34" charset="-120"/>
              </a:rPr>
              <a:t>Generate requirement completeness and bottleneck reports weekly for continuous improvement.</a:t>
            </a:r>
            <a:endParaRPr lang="en-US" sz="13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1320760"/>
            <a:ext cx="7415927" cy="2057400"/>
          </a:xfrm>
          <a:prstGeom prst="rect">
            <a:avLst/>
          </a:prstGeom>
          <a:noFill/>
          <a:ln/>
        </p:spPr>
        <p:txBody>
          <a:bodyPr wrap="square" lIns="0" tIns="0" rIns="0" bIns="0" rtlCol="0" anchor="t"/>
          <a:lstStyle/>
          <a:p>
            <a:pPr marL="0" indent="0">
              <a:lnSpc>
                <a:spcPts val="5400"/>
              </a:lnSpc>
              <a:buNone/>
            </a:pPr>
            <a:r>
              <a:rPr lang="en-US" sz="4300" b="1">
                <a:solidFill>
                  <a:srgbClr val="F0FCFF"/>
                </a:solidFill>
                <a:latin typeface="Spline Sans Bold" pitchFamily="34" charset="0"/>
                <a:ea typeface="Spline Sans Bold" pitchFamily="34" charset="-122"/>
                <a:cs typeface="Spline Sans Bold" pitchFamily="34" charset="-120"/>
              </a:rPr>
              <a:t>Conclusion: Utilizing RMTrack for Enhanced Requirements Management</a:t>
            </a:r>
            <a:endParaRPr lang="en-US" sz="4300"/>
          </a:p>
        </p:txBody>
      </p:sp>
      <p:sp>
        <p:nvSpPr>
          <p:cNvPr id="4" name="Text 1"/>
          <p:cNvSpPr/>
          <p:nvPr/>
        </p:nvSpPr>
        <p:spPr>
          <a:xfrm>
            <a:off x="864037" y="3748445"/>
            <a:ext cx="7415927" cy="3160395"/>
          </a:xfrm>
          <a:prstGeom prst="rect">
            <a:avLst/>
          </a:prstGeom>
          <a:noFill/>
          <a:ln/>
        </p:spPr>
        <p:txBody>
          <a:bodyPr wrap="square" lIns="0" tIns="0" rIns="0" bIns="0" rtlCol="0" anchor="t"/>
          <a:lstStyle/>
          <a:p>
            <a:pPr marL="0" indent="0">
              <a:lnSpc>
                <a:spcPts val="3100"/>
              </a:lnSpc>
              <a:buNone/>
            </a:pPr>
            <a:r>
              <a:rPr lang="en-US" sz="1900">
                <a:solidFill>
                  <a:srgbClr val="E0E4E6"/>
                </a:solidFill>
                <a:latin typeface="Barlow" pitchFamily="34" charset="0"/>
                <a:ea typeface="Barlow" pitchFamily="34" charset="-122"/>
                <a:cs typeface="Barlow" pitchFamily="34" charset="-120"/>
              </a:rPr>
              <a:t>RMTrack provides a comprehensive solution for efficient requirement management, offering a user-friendly interface, customizable workflows, and robust reporting capabilities. By incorporating cognitive and group elicitation techniques into your workflow, you can leverage RMTrack to effectively gather, analyze, and manage requirements, resulting in improved project outcomes and enhanced stakeholder satisfaction. We encourage you to explore RMTrack and adopt its features for your future projects.</a:t>
            </a:r>
            <a:endParaRPr lang="en-US" sz="1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3819DE-429A-7F2D-F0D9-095B4ABE641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 name="Text 0">
            <a:extLst>
              <a:ext uri="{FF2B5EF4-FFF2-40B4-BE49-F238E27FC236}">
                <a16:creationId xmlns:a16="http://schemas.microsoft.com/office/drawing/2014/main" id="{0985917F-0EE2-3981-8407-FA40FD8AA4B9}"/>
              </a:ext>
            </a:extLst>
          </p:cNvPr>
          <p:cNvSpPr/>
          <p:nvPr/>
        </p:nvSpPr>
        <p:spPr>
          <a:xfrm>
            <a:off x="841836" y="1278280"/>
            <a:ext cx="5649205" cy="483844"/>
          </a:xfrm>
          <a:prstGeom prst="rect">
            <a:avLst/>
          </a:prstGeom>
        </p:spPr>
        <p:txBody>
          <a:bodyPr vert="horz" lIns="91440" tIns="45720" rIns="91440" bIns="45720" rtlCol="0" anchor="b">
            <a:noAutofit/>
          </a:bodyPr>
          <a:lstStyle/>
          <a:p>
            <a:pPr marL="0" indent="0" algn="ctr">
              <a:spcBef>
                <a:spcPct val="0"/>
              </a:spcBef>
              <a:spcAft>
                <a:spcPts val="600"/>
              </a:spcAft>
            </a:pPr>
            <a:r>
              <a:rPr lang="en-US" sz="4000" b="1" i="1" u="sng">
                <a:solidFill>
                  <a:schemeClr val="bg1"/>
                </a:solidFill>
                <a:latin typeface="+mj-lt"/>
                <a:ea typeface="+mj-ea"/>
                <a:cs typeface="+mj-cs"/>
              </a:rPr>
              <a:t>References</a:t>
            </a:r>
            <a:endParaRPr lang="en-US" sz="4000" i="1" u="sng">
              <a:solidFill>
                <a:schemeClr val="bg1"/>
              </a:solidFill>
              <a:latin typeface="+mj-lt"/>
              <a:ea typeface="+mj-ea"/>
              <a:cs typeface="+mj-cs"/>
            </a:endParaRPr>
          </a:p>
        </p:txBody>
      </p:sp>
      <p:cxnSp>
        <p:nvCxnSpPr>
          <p:cNvPr id="11" name="Straight Connector 10">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98247" y="2099707"/>
            <a:ext cx="5661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ext 1">
            <a:extLst>
              <a:ext uri="{FF2B5EF4-FFF2-40B4-BE49-F238E27FC236}">
                <a16:creationId xmlns:a16="http://schemas.microsoft.com/office/drawing/2014/main" id="{E54454D2-115F-DDF5-7709-E4D7A4B974EF}"/>
              </a:ext>
            </a:extLst>
          </p:cNvPr>
          <p:cNvSpPr/>
          <p:nvPr/>
        </p:nvSpPr>
        <p:spPr>
          <a:xfrm>
            <a:off x="1077322" y="2291030"/>
            <a:ext cx="5503816" cy="4377252"/>
          </a:xfrm>
          <a:prstGeom prst="rect">
            <a:avLst/>
          </a:prstGeom>
        </p:spPr>
        <p:txBody>
          <a:bodyPr vert="horz" lIns="91440" tIns="45720" rIns="91440" bIns="45720" rtlCol="0">
            <a:normAutofit/>
          </a:bodyPr>
          <a:lstStyle/>
          <a:p>
            <a:pPr marL="514350" indent="-514350">
              <a:buFont typeface="+mj-lt"/>
              <a:buAutoNum type="arabicPeriod"/>
            </a:pPr>
            <a:r>
              <a:rPr lang="en-US" sz="2500" b="1" i="1">
                <a:solidFill>
                  <a:schemeClr val="bg1"/>
                </a:solidFill>
              </a:rPr>
              <a:t>For more information, please refer to the </a:t>
            </a:r>
            <a:r>
              <a:rPr lang="en-US" sz="2500" b="1" i="1" err="1">
                <a:solidFill>
                  <a:schemeClr val="bg1"/>
                </a:solidFill>
              </a:rPr>
              <a:t>RMTrack</a:t>
            </a:r>
            <a:r>
              <a:rPr lang="en-US" sz="2500" b="1" i="1">
                <a:solidFill>
                  <a:schemeClr val="bg1"/>
                </a:solidFill>
              </a:rPr>
              <a:t> Official Website: </a:t>
            </a:r>
            <a:r>
              <a:rPr lang="en-US" sz="2500" b="1" i="1">
                <a:solidFill>
                  <a:schemeClr val="bg1"/>
                </a:solidFill>
                <a:hlinkClick r:id="rId3"/>
              </a:rPr>
              <a:t>https://www.rmtrack.com/</a:t>
            </a:r>
            <a:endParaRPr lang="en-US" sz="2500" b="1" i="1">
              <a:solidFill>
                <a:schemeClr val="bg1"/>
              </a:solidFill>
            </a:endParaRPr>
          </a:p>
          <a:p>
            <a:pPr marL="514350" indent="-514350">
              <a:buFont typeface="+mj-lt"/>
              <a:buAutoNum type="arabicPeriod"/>
            </a:pPr>
            <a:r>
              <a:rPr lang="en-US" sz="2500" b="1" i="1">
                <a:solidFill>
                  <a:schemeClr val="bg1"/>
                </a:solidFill>
              </a:rPr>
              <a:t>YouTube Tutorial Link: </a:t>
            </a:r>
            <a:r>
              <a:rPr lang="en-US" sz="2500" b="1" i="1">
                <a:solidFill>
                  <a:schemeClr val="bg1"/>
                </a:solidFill>
                <a:hlinkClick r:id="rId4"/>
              </a:rPr>
              <a:t>https://www.youtube.com/@rmtrack702</a:t>
            </a:r>
            <a:endParaRPr lang="en-US" sz="2500" b="1" i="1">
              <a:solidFill>
                <a:schemeClr val="bg1"/>
              </a:solidFill>
            </a:endParaRPr>
          </a:p>
          <a:p>
            <a:pPr marL="514350" indent="-514350">
              <a:buFont typeface="+mj-lt"/>
              <a:buAutoNum type="arabicPeriod"/>
            </a:pPr>
            <a:r>
              <a:rPr lang="en-US" sz="2500" b="1" i="1" err="1">
                <a:solidFill>
                  <a:schemeClr val="bg1"/>
                </a:solidFill>
              </a:rPr>
              <a:t>RMTrack</a:t>
            </a:r>
            <a:r>
              <a:rPr lang="en-US" sz="2500" b="1" i="1">
                <a:solidFill>
                  <a:schemeClr val="bg1"/>
                </a:solidFill>
              </a:rPr>
              <a:t> Official Guide: </a:t>
            </a:r>
            <a:r>
              <a:rPr lang="en-US" sz="2500" b="1" i="1">
                <a:solidFill>
                  <a:schemeClr val="bg1"/>
                </a:solidFill>
                <a:hlinkClick r:id="rId5"/>
              </a:rPr>
              <a:t>https://downloads.rmtrack.com/InstallationGuidev4.0.pdf</a:t>
            </a:r>
            <a:endParaRPr lang="en-US" sz="2500" b="1" i="1">
              <a:solidFill>
                <a:schemeClr val="bg1"/>
              </a:solidFill>
            </a:endParaRPr>
          </a:p>
        </p:txBody>
      </p:sp>
      <p:cxnSp>
        <p:nvCxnSpPr>
          <p:cNvPr id="13" name="Straight Connector 12">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00832" y="6849206"/>
            <a:ext cx="565679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 name="Image 0" descr="A group of people sitting around a table&#10;&#10;Description automatically generated">
            <a:extLst>
              <a:ext uri="{FF2B5EF4-FFF2-40B4-BE49-F238E27FC236}">
                <a16:creationId xmlns:a16="http://schemas.microsoft.com/office/drawing/2014/main" id="{DCACF299-70B7-46B2-A215-D83334E3DB85}"/>
              </a:ext>
            </a:extLst>
          </p:cNvPr>
          <p:cNvPicPr>
            <a:picLocks noChangeAspect="1"/>
          </p:cNvPicPr>
          <p:nvPr/>
        </p:nvPicPr>
        <p:blipFill>
          <a:blip r:embed="rId6"/>
          <a:srcRect t="5902" r="-2" b="-2"/>
          <a:stretch/>
        </p:blipFill>
        <p:spPr>
          <a:xfrm>
            <a:off x="7830543" y="10"/>
            <a:ext cx="6799857" cy="8229590"/>
          </a:xfrm>
          <a:prstGeom prst="rect">
            <a:avLst/>
          </a:prstGeom>
        </p:spPr>
      </p:pic>
    </p:spTree>
    <p:extLst>
      <p:ext uri="{BB962C8B-B14F-4D97-AF65-F5344CB8AC3E}">
        <p14:creationId xmlns:p14="http://schemas.microsoft.com/office/powerpoint/2010/main" val="13855852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887</Words>
  <Application>Microsoft Office PowerPoint</Application>
  <PresentationFormat>Custom</PresentationFormat>
  <Paragraphs>96</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Barlow</vt:lpstr>
      <vt:lpstr>Wingdings</vt:lpstr>
      <vt:lpstr>Arial</vt:lpstr>
      <vt:lpstr>-apple-system</vt:lpstr>
      <vt:lpstr>Spline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muther saeed</cp:lastModifiedBy>
  <cp:revision>2</cp:revision>
  <dcterms:created xsi:type="dcterms:W3CDTF">2024-12-07T07:32:50Z</dcterms:created>
  <dcterms:modified xsi:type="dcterms:W3CDTF">2024-12-16T05:40:55Z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2024-12-07T11:03:50Z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c9e777ad-46ad-4314-a57d-ad782ee0b357</vt:lpwstr>
  </property>
  <property fmtid="{D5CDD505-2E9C-101B-9397-08002B2CF9AE}" pid="7" name="MSIP_Label_defa4170-0d19-0005-0004-bc88714345d2_ActionId">
    <vt:lpwstr>5813bcc0-5834-48b3-b747-11d0b79f215a</vt:lpwstr>
  </property>
  <property fmtid="{D5CDD505-2E9C-101B-9397-08002B2CF9AE}" pid="8" name="MSIP_Label_defa4170-0d19-0005-0004-bc88714345d2_ContentBits">
    <vt:lpwstr>0</vt:lpwstr>
  </property>
</Properties>
</file>