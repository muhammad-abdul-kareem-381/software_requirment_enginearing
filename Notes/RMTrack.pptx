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Syne" panose="020B0604020202020204" charset="0"/>
      <p:regular r:id="rId12"/>
    </p:embeddedFont>
    <p:embeddedFont>
      <p:font typeface="Syne Extra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68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rmtrac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87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RMTrack</a:t>
            </a: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: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425178"/>
            <a:ext cx="7556421" cy="343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Welcome to this presentation on RMTrack, a powerful tool for efficient requirement elicitation and management. This presentation will cover key features, steps, pros and cons, and design considerations for effective use.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2968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10" y="513730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112782"/>
            <a:ext cx="2655213" cy="2779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by Muther Saeed</a:t>
            </a:r>
            <a:endParaRPr lang="en-US" sz="22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8DD703DE-7F54-060D-B94F-A3D54A0A7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7173158"/>
            <a:ext cx="347663" cy="347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21117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i="1" u="sng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Introduction to Requirement Elicitation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5309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Requirement Elicitation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process of gathering and documenting requirements from stakeholders.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45188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Importance of Tools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Streamline the process, improve communication, and ensure accurate documentation.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925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Overview of RMTrack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5413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17439" y="3305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i="1" u="sng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Web-based Tool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17439" y="3795832"/>
            <a:ext cx="304121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RMTrack is a web-based solution, accessible from any device with internet access.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05413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9116" y="3305413"/>
            <a:ext cx="304121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i="1" u="sng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Requirement Management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09116" y="4150162"/>
            <a:ext cx="304121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Provides a centralized platform to manage requirements, bugs, tasks, and related activities.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083737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17439" y="6083737"/>
            <a:ext cx="3722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17439" y="6574155"/>
            <a:ext cx="6932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Development teams, project managers, and organizations of all sizes.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229" y="543878"/>
            <a:ext cx="8767763" cy="61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Steps to Use RMTrack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303770" y="1557457"/>
            <a:ext cx="22860" cy="6131004"/>
          </a:xfrm>
          <a:prstGeom prst="roundRect">
            <a:avLst>
              <a:gd name="adj" fmla="val 363395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23362" y="1990844"/>
            <a:ext cx="692229" cy="22860"/>
          </a:xfrm>
          <a:prstGeom prst="roundRect">
            <a:avLst>
              <a:gd name="adj" fmla="val 363395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92732" y="1779865"/>
            <a:ext cx="444937" cy="444937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36678" y="1853922"/>
            <a:ext cx="15692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755112" y="1755219"/>
            <a:ext cx="247233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Setup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2229" y="2182892"/>
            <a:ext cx="5535216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Register for a trial or log in with existing credentials.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4808" y="2979658"/>
            <a:ext cx="692229" cy="22860"/>
          </a:xfrm>
          <a:prstGeom prst="roundRect">
            <a:avLst>
              <a:gd name="adj" fmla="val 363395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92732" y="2768679"/>
            <a:ext cx="444937" cy="444937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66431" y="2842736"/>
            <a:ext cx="297537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402955" y="2744033"/>
            <a:ext cx="3210401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Project Creation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02955" y="3171706"/>
            <a:ext cx="5535216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Customize project fields (priority levels, categories, workflow stages).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23362" y="3869650"/>
            <a:ext cx="692229" cy="22860"/>
          </a:xfrm>
          <a:prstGeom prst="roundRect">
            <a:avLst>
              <a:gd name="adj" fmla="val 363395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92732" y="3658672"/>
            <a:ext cx="444937" cy="444937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58692" y="3732728"/>
            <a:ext cx="313015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2501027" y="3634026"/>
            <a:ext cx="3726418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Requirement Entry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2229" y="4061698"/>
            <a:ext cx="5535216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 new issues/requirements with details, priority, and responsible team members.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4808" y="4759643"/>
            <a:ext cx="692229" cy="22860"/>
          </a:xfrm>
          <a:prstGeom prst="roundRect">
            <a:avLst>
              <a:gd name="adj" fmla="val 363395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92732" y="4548664"/>
            <a:ext cx="444937" cy="444937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2858" y="4622721"/>
            <a:ext cx="32456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402955" y="4524018"/>
            <a:ext cx="471166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Workflow Configuration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02955" y="4951690"/>
            <a:ext cx="5535216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Define workflows based on project needs (e.g., "New" → "In Progress" → "Complete").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423362" y="5649635"/>
            <a:ext cx="692229" cy="22860"/>
          </a:xfrm>
          <a:prstGeom prst="roundRect">
            <a:avLst>
              <a:gd name="adj" fmla="val 363395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92732" y="5438656"/>
            <a:ext cx="444937" cy="444937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64645" y="5512713"/>
            <a:ext cx="301109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1392198" y="5414010"/>
            <a:ext cx="4835247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Reporting &amp; Dashboards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92229" y="5841682"/>
            <a:ext cx="5535216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Track progress and identify bottlenecks through detailed reports and dashboards.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514808" y="6539627"/>
            <a:ext cx="692229" cy="22860"/>
          </a:xfrm>
          <a:prstGeom prst="roundRect">
            <a:avLst>
              <a:gd name="adj" fmla="val 363395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92732" y="6328648"/>
            <a:ext cx="444937" cy="444937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47143" y="6402705"/>
            <a:ext cx="33611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6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8402955" y="6304002"/>
            <a:ext cx="5173861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Collaboration &amp; Feedback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402955" y="6731675"/>
            <a:ext cx="5535216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 team members, use notifications, and leverage features for effective collaboration and feedback.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120840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Pros and Cons of RMTrack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Easy-to-use interface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Highly customizable workflows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Robust reporting and dashboard features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Limited free version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Requires initial training for advanced features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May not be suitable for extremely large projects.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032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Cognitive and Group Elicitation Techniques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4146828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14624" y="438126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Cognitive Techniques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522601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Focus on understanding individual mental models and perspectives.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4146828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06301" y="438126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Group Techniques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522601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Used for collecting requirements collectively from multiple stakeholders.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661" y="1356003"/>
            <a:ext cx="13203079" cy="127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Design of Thai Technique for Repository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777" y="3038237"/>
            <a:ext cx="1307068" cy="726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46803" y="3275767"/>
            <a:ext cx="134898" cy="40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871680" y="3242072"/>
            <a:ext cx="261342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Define Goals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718804" y="3780473"/>
            <a:ext cx="9146977" cy="11430"/>
          </a:xfrm>
          <a:prstGeom prst="roundRect">
            <a:avLst>
              <a:gd name="adj" fmla="val 749337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243" y="3815477"/>
            <a:ext cx="2614136" cy="7262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86438" y="3974663"/>
            <a:ext cx="255627" cy="40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525214" y="4019312"/>
            <a:ext cx="3018830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Categorization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5372338" y="4557713"/>
            <a:ext cx="8493443" cy="11430"/>
          </a:xfrm>
          <a:prstGeom prst="roundRect">
            <a:avLst>
              <a:gd name="adj" fmla="val 749337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709" y="4592717"/>
            <a:ext cx="3921204" cy="7262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79771" y="4751903"/>
            <a:ext cx="268843" cy="40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178748" y="4796552"/>
            <a:ext cx="5064800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Workflow Customization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025872" y="5334953"/>
            <a:ext cx="7839908" cy="11430"/>
          </a:xfrm>
          <a:prstGeom prst="roundRect">
            <a:avLst>
              <a:gd name="adj" fmla="val 749337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175" y="5369957"/>
            <a:ext cx="5228392" cy="72628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74889" y="5529143"/>
            <a:ext cx="278844" cy="40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6832402" y="5573792"/>
            <a:ext cx="5109448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Collaborative Workshops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6679525" y="6112193"/>
            <a:ext cx="7186255" cy="11430"/>
          </a:xfrm>
          <a:prstGeom prst="roundRect">
            <a:avLst>
              <a:gd name="adj" fmla="val 749337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641" y="6147197"/>
            <a:ext cx="6535460" cy="72628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5009" y="6306383"/>
            <a:ext cx="258723" cy="40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7485936" y="6351032"/>
            <a:ext cx="599277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Integration of Feedback Loop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Conclusion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41207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RMTrack Overview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508909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comprehensive requirement elicitation and management tool.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704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664160"/>
            <a:ext cx="31457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Key Highlights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154579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Steps, pros/cons, and effective cognitive and group elicitation techniques.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738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664160"/>
            <a:ext cx="40349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Value of RMTrack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15457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Improves requirement management processes and promotes efficient collaboration.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761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250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 more information, please refer to the following resources: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1431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RMTrack Official Website: </a:t>
            </a:r>
            <a:r>
              <a:rPr lang="en-US" sz="1750" u="sng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https://www.rmtrack.com/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853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YouTube Tutorial Link: \[YouTube Link\]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02753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Academic/Technical references on cognitive and group elicitation techniques.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Custom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Syne Bold</vt:lpstr>
      <vt:lpstr>Syne</vt:lpstr>
      <vt:lpstr>Arial</vt:lpstr>
      <vt:lpstr>Syne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muther saeed</cp:lastModifiedBy>
  <cp:revision>2</cp:revision>
  <dcterms:created xsi:type="dcterms:W3CDTF">2024-12-07T07:07:56Z</dcterms:created>
  <dcterms:modified xsi:type="dcterms:W3CDTF">2024-12-07T07:25:18Z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2024-12-07T07:25:02Z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c9e777ad-46ad-4314-a57d-ad782ee0b357</vt:lpwstr>
  </property>
  <property fmtid="{D5CDD505-2E9C-101B-9397-08002B2CF9AE}" pid="7" name="MSIP_Label_defa4170-0d19-0005-0004-bc88714345d2_ActionId">
    <vt:lpwstr>37cbf3d2-d068-49e6-9b72-bfb6146b3b0e</vt:lpwstr>
  </property>
  <property fmtid="{D5CDD505-2E9C-101B-9397-08002B2CF9AE}" pid="8" name="MSIP_Label_defa4170-0d19-0005-0004-bc88714345d2_ContentBits">
    <vt:lpwstr>0</vt:lpwstr>
  </property>
</Properties>
</file>